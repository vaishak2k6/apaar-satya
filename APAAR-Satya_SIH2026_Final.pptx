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2.jpg"/><Relationship Id="rId6" Type="http://schemas.openxmlformats.org/officeDocument/2006/relationships/image" Target="../media/image13.jpg"/><Relationship Id="rId7" Type="http://schemas.openxmlformats.org/officeDocument/2006/relationships/image" Target="../media/image14.jpg"/><Relationship Id="rId8" Type="http://schemas.openxmlformats.org/officeDocument/2006/relationships/image" Target="../media/image15.jpg"/><Relationship Id="rId9" Type="http://schemas.openxmlformats.org/officeDocument/2006/relationships/hyperlink" Target="https://vaishak2k6.github.io/APAAR-Satya/" TargetMode="External"/><Relationship Id="rId10" Type="http://schemas.openxmlformats.org/officeDocument/2006/relationships/hyperlink" Target="https://github.com/vaishak2k6/APAAR-Saty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874519"/>
            <a:ext cx="640080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 </a:t>
            </a:r>
            <a:r>
              <a:rPr b="1" sz="2200">
                <a:solidFill>
                  <a:srgbClr val="1F4E79"/>
                </a:solidFill>
                <a:latin typeface="Arial"/>
              </a:rPr>
              <a:t>SIH26___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 </a:t>
            </a:r>
            <a:r>
              <a:rPr b="1" sz="2200">
                <a:solidFill>
                  <a:srgbClr val="1F4E79"/>
                </a:solidFill>
                <a:latin typeface="Arial"/>
              </a:rPr>
              <a:t>APAAR ID-Based Student Data Management and Verification Platform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b="1" sz="2200">
                <a:solidFill>
                  <a:srgbClr val="1F4E79"/>
                </a:solidFill>
                <a:latin typeface="Arial"/>
              </a:rPr>
              <a:t>Smart Education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b="1" sz="2200">
                <a:solidFill>
                  <a:srgbClr val="1F4E79"/>
                </a:solidFill>
                <a:latin typeface="Arial"/>
              </a:rPr>
              <a:t>Software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b="1" sz="2200">
                <a:solidFill>
                  <a:srgbClr val="1F4E79"/>
                </a:solidFill>
                <a:latin typeface="Arial"/>
              </a:rPr>
              <a:t>______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b="1" sz="2200">
                <a:solidFill>
                  <a:srgbClr val="1F4E79"/>
                </a:solidFill>
                <a:latin typeface="Arial"/>
              </a:rPr>
              <a:t>TEAM-RESILIENCE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8800" y="0"/>
            <a:ext cx="7772400" cy="6858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APAAR-SATYA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2" name="Picture 15361" descr="team_logo.png"/>
          <p:cNvPicPr>
            <a:picLocks noChangeAspect="1"/>
          </p:cNvPicPr>
          <p:nvPr/>
        </p:nvPicPr>
        <p:blipFill>
          <a:blip r:embed="rId4"/>
          <a:srcRect l="7676" r="7676"/>
          <a:stretch>
            <a:fillRect/>
          </a:stretch>
        </p:blipFill>
        <p:spPr>
          <a:xfrm>
            <a:off x="329773" y="252246"/>
            <a:ext cx="1251857" cy="807334"/>
          </a:xfrm>
          <a:prstGeom prst="ellipse">
            <a:avLst/>
          </a:prstGeom>
          <a:ln w="19050">
            <a:solidFill>
              <a:srgbClr val="7030A0"/>
            </a:solidFill>
          </a:ln>
        </p:spPr>
      </p:pic>
      <p:sp>
        <p:nvSpPr>
          <p:cNvPr id="15363" name="TextBox 15362"/>
          <p:cNvSpPr txBox="1"/>
          <p:nvPr/>
        </p:nvSpPr>
        <p:spPr>
          <a:xfrm>
            <a:off x="1828800" y="603504"/>
            <a:ext cx="7772400" cy="36576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ctr"/>
            <a:r>
              <a:rPr sz="1600" b="0" i="1">
                <a:solidFill>
                  <a:srgbClr val="1F4E79"/>
                </a:solidFill>
                <a:latin typeface="Times New Roman"/>
              </a:rPr>
              <a:t>Student Data Management and Verification using APAAR ID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274320" y="1261872"/>
            <a:ext cx="9646920" cy="178308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FDEBDD"/>
              </a:gs>
              <a:gs pos="100000">
                <a:srgbClr val="F8C9A4"/>
              </a:gs>
            </a:gsLst>
            <a:lin ang="5400000" scaled="0"/>
          </a:gradFill>
          <a:ln w="15875">
            <a:solidFill>
              <a:srgbClr val="F4A261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5" name="Oval 15364"/>
          <p:cNvSpPr/>
          <p:nvPr/>
        </p:nvSpPr>
        <p:spPr>
          <a:xfrm>
            <a:off x="548640" y="1069848"/>
            <a:ext cx="182880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6" name="TextBox 15365"/>
          <p:cNvSpPr txBox="1"/>
          <p:nvPr/>
        </p:nvSpPr>
        <p:spPr>
          <a:xfrm>
            <a:off x="548640" y="1069848"/>
            <a:ext cx="1828800" cy="36576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/>
            <a:r>
              <a:rPr sz="1600" b="1" i="0">
                <a:solidFill>
                  <a:srgbClr val="111827"/>
                </a:solidFill>
                <a:latin typeface="Times New Roman"/>
              </a:rPr>
              <a:t>Core Issue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411480" y="1481328"/>
            <a:ext cx="9418320" cy="155448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953735"/>
                </a:solidFill>
                <a:latin typeface="Wingdings"/>
              </a:rPr>
              <a:t>v</a:t>
            </a:r>
            <a:r>
              <a:rPr sz="160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600" b="1" i="0">
                <a:solidFill>
                  <a:srgbClr val="953735"/>
                </a:solidFill>
                <a:latin typeface="Times New Roman"/>
              </a:rPr>
              <a:t>Only Totals Reach AICTE: </a:t>
            </a:r>
            <a:r>
              <a:rPr sz="1600" b="0" i="0">
                <a:solidFill>
                  <a:srgbClr val="111827"/>
                </a:solidFill>
                <a:latin typeface="Times New Roman"/>
              </a:rPr>
              <a:t>Most institutions report total enrolment, not student-level data.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953735"/>
                </a:solidFill>
                <a:latin typeface="Wingdings"/>
              </a:rPr>
              <a:t>v</a:t>
            </a:r>
            <a:r>
              <a:rPr sz="160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600" b="1" i="0">
                <a:solidFill>
                  <a:srgbClr val="953735"/>
                </a:solidFill>
                <a:latin typeface="Times New Roman"/>
              </a:rPr>
              <a:t>Excess Admissions: </a:t>
            </a:r>
            <a:r>
              <a:rPr sz="1600" b="0" i="0">
                <a:solidFill>
                  <a:srgbClr val="111827"/>
                </a:solidFill>
                <a:latin typeface="Times New Roman"/>
              </a:rPr>
              <a:t>Seats filled beyond approved intake are hard to detect in time.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953735"/>
                </a:solidFill>
                <a:latin typeface="Wingdings"/>
              </a:rPr>
              <a:t>v</a:t>
            </a:r>
            <a:r>
              <a:rPr sz="160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600" b="1" i="0">
                <a:solidFill>
                  <a:srgbClr val="953735"/>
                </a:solidFill>
                <a:latin typeface="Times New Roman"/>
              </a:rPr>
              <a:t>Quota Misuse and Ghost Students: </a:t>
            </a:r>
            <a:r>
              <a:rPr sz="1600" b="0" i="0">
                <a:solidFill>
                  <a:srgbClr val="111827"/>
                </a:solidFill>
                <a:latin typeface="Times New Roman"/>
              </a:rPr>
              <a:t>NRI / OCI / FN seats and fake entries are difficult to verify.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953735"/>
                </a:solidFill>
                <a:latin typeface="Wingdings"/>
              </a:rPr>
              <a:t>v</a:t>
            </a:r>
            <a:r>
              <a:rPr sz="160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600" b="1" i="0">
                <a:solidFill>
                  <a:srgbClr val="953735"/>
                </a:solidFill>
                <a:latin typeface="Times New Roman"/>
              </a:rPr>
              <a:t>Duplicate Enrolment: </a:t>
            </a:r>
            <a:r>
              <a:rPr sz="1600" b="0" i="0">
                <a:solidFill>
                  <a:srgbClr val="111827"/>
                </a:solidFill>
                <a:latin typeface="Times New Roman"/>
              </a:rPr>
              <a:t>The same student may hold seats in two colleges.</a:t>
            </a:r>
          </a:p>
        </p:txBody>
      </p:sp>
      <p:pic>
        <p:nvPicPr>
          <p:cNvPr id="15368" name="Picture 15367" descr="student_crop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0" y="1097280"/>
            <a:ext cx="1417320" cy="1874519"/>
          </a:xfrm>
          <a:prstGeom prst="rect">
            <a:avLst/>
          </a:prstGeom>
          <a:ln w="9525">
            <a:solidFill>
              <a:srgbClr val="8C8C8C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</p:pic>
      <p:sp>
        <p:nvSpPr>
          <p:cNvPr id="15369" name="Rounded Rectangle 15368"/>
          <p:cNvSpPr/>
          <p:nvPr/>
        </p:nvSpPr>
        <p:spPr>
          <a:xfrm>
            <a:off x="274320" y="3310128"/>
            <a:ext cx="6446520" cy="2944368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ECE4FB"/>
              </a:gs>
              <a:gs pos="100000">
                <a:srgbClr val="C3B1EC"/>
              </a:gs>
            </a:gsLst>
            <a:lin ang="5400000" scaled="0"/>
          </a:gradFill>
          <a:ln w="15875">
            <a:solidFill>
              <a:srgbClr val="8E6FC9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0" name="Oval 15369"/>
          <p:cNvSpPr/>
          <p:nvPr/>
        </p:nvSpPr>
        <p:spPr>
          <a:xfrm>
            <a:off x="548640" y="3127248"/>
            <a:ext cx="2651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8E6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1" name="TextBox 15370"/>
          <p:cNvSpPr txBox="1"/>
          <p:nvPr/>
        </p:nvSpPr>
        <p:spPr>
          <a:xfrm>
            <a:off x="548640" y="3127248"/>
            <a:ext cx="2651760" cy="36576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/>
            <a:r>
              <a:rPr sz="1600" b="1" i="0">
                <a:solidFill>
                  <a:srgbClr val="111827"/>
                </a:solidFill>
                <a:latin typeface="Times New Roman"/>
              </a:rPr>
              <a:t>Proposed Solution</a:t>
            </a:r>
          </a:p>
        </p:txBody>
      </p:sp>
      <p:sp>
        <p:nvSpPr>
          <p:cNvPr id="15372" name="TextBox 15371"/>
          <p:cNvSpPr txBox="1"/>
          <p:nvPr/>
        </p:nvSpPr>
        <p:spPr>
          <a:xfrm>
            <a:off x="411480" y="3566160"/>
            <a:ext cx="6263640" cy="265176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953735"/>
                </a:solidFill>
                <a:latin typeface="Wingdings"/>
              </a:rPr>
              <a:t>v</a:t>
            </a:r>
            <a:r>
              <a:rPr sz="150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500" b="1" i="0">
                <a:solidFill>
                  <a:srgbClr val="953735"/>
                </a:solidFill>
                <a:latin typeface="Times New Roman"/>
              </a:rPr>
              <a:t>APAAR Records: </a:t>
            </a:r>
            <a:r>
              <a:rPr sz="1500" b="0" i="0">
                <a:solidFill>
                  <a:srgbClr val="111827"/>
                </a:solidFill>
                <a:latin typeface="Times New Roman"/>
              </a:rPr>
              <a:t>Each admitted student is uploaded with APAAR ID.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953735"/>
                </a:solidFill>
                <a:latin typeface="Wingdings"/>
              </a:rPr>
              <a:t>v</a:t>
            </a:r>
            <a:r>
              <a:rPr sz="150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500" b="1" i="0">
                <a:solidFill>
                  <a:srgbClr val="953735"/>
                </a:solidFill>
                <a:latin typeface="Times New Roman"/>
              </a:rPr>
              <a:t>Seat Ledger: </a:t>
            </a:r>
            <a:r>
              <a:rPr sz="1500" b="0" i="0">
                <a:solidFill>
                  <a:srgbClr val="111827"/>
                </a:solidFill>
                <a:latin typeface="Times New Roman"/>
              </a:rPr>
              <a:t>Seats issued as per approval; extra uploads are blocked.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953735"/>
                </a:solidFill>
                <a:latin typeface="Wingdings"/>
              </a:rPr>
              <a:t>v</a:t>
            </a:r>
            <a:r>
              <a:rPr sz="150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500" b="1" i="0">
                <a:solidFill>
                  <a:srgbClr val="953735"/>
                </a:solidFill>
                <a:latin typeface="Times New Roman"/>
              </a:rPr>
              <a:t>Three-Source Check: </a:t>
            </a:r>
            <a:r>
              <a:rPr sz="1500" b="0" i="0">
                <a:solidFill>
                  <a:srgbClr val="111827"/>
                </a:solidFill>
                <a:latin typeface="Times New Roman"/>
              </a:rPr>
              <a:t>A record is verified only when three sources agree.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953735"/>
                </a:solidFill>
                <a:latin typeface="Wingdings"/>
              </a:rPr>
              <a:t>v</a:t>
            </a:r>
            <a:r>
              <a:rPr sz="150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500" b="1" i="0">
                <a:solidFill>
                  <a:srgbClr val="953735"/>
                </a:solidFill>
                <a:latin typeface="Times New Roman"/>
              </a:rPr>
              <a:t>Fraud Check: </a:t>
            </a:r>
            <a:r>
              <a:rPr sz="1500" b="0" i="0">
                <a:solidFill>
                  <a:srgbClr val="111827"/>
                </a:solidFill>
                <a:latin typeface="Times New Roman"/>
              </a:rPr>
              <a:t>Duplicate APAAR IDs, similar names, shared mobiles.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953735"/>
                </a:solidFill>
                <a:latin typeface="Wingdings"/>
              </a:rPr>
              <a:t>v</a:t>
            </a:r>
            <a:r>
              <a:rPr sz="150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500" b="1" i="0">
                <a:solidFill>
                  <a:srgbClr val="953735"/>
                </a:solidFill>
                <a:latin typeface="Times New Roman"/>
              </a:rPr>
              <a:t>Student Confirmation: </a:t>
            </a:r>
            <a:r>
              <a:rPr sz="1500" b="0" i="0">
                <a:solidFill>
                  <a:srgbClr val="111827"/>
                </a:solidFill>
                <a:latin typeface="Times New Roman"/>
              </a:rPr>
              <a:t>Students confirm via DigiLocker, SMS or IVR.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953735"/>
                </a:solidFill>
                <a:latin typeface="Wingdings"/>
              </a:rPr>
              <a:t>v</a:t>
            </a:r>
            <a:r>
              <a:rPr sz="150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500" b="1" i="0">
                <a:solidFill>
                  <a:srgbClr val="953735"/>
                </a:solidFill>
                <a:latin typeface="Times New Roman"/>
              </a:rPr>
              <a:t>Verifiable Certificates: </a:t>
            </a:r>
            <a:r>
              <a:rPr sz="1500" b="0" i="0">
                <a:solidFill>
                  <a:srgbClr val="111827"/>
                </a:solidFill>
                <a:latin typeface="Times New Roman"/>
              </a:rPr>
              <a:t>QR code with APAAR ID and Student ID.</a:t>
            </a:r>
          </a:p>
        </p:txBody>
      </p:sp>
      <p:sp>
        <p:nvSpPr>
          <p:cNvPr id="15373" name="Rounded Rectangle 15372"/>
          <p:cNvSpPr/>
          <p:nvPr/>
        </p:nvSpPr>
        <p:spPr>
          <a:xfrm>
            <a:off x="6903720" y="3310128"/>
            <a:ext cx="5029200" cy="2944368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E6F8FC"/>
              </a:gs>
              <a:gs pos="100000">
                <a:srgbClr val="A6E3F2"/>
              </a:gs>
            </a:gsLst>
            <a:lin ang="5400000" scaled="0"/>
          </a:gradFill>
          <a:ln w="15875">
            <a:solidFill>
              <a:srgbClr val="4FB3D1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4" name="Oval 15373"/>
          <p:cNvSpPr/>
          <p:nvPr/>
        </p:nvSpPr>
        <p:spPr>
          <a:xfrm>
            <a:off x="8549640" y="3127248"/>
            <a:ext cx="17373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FB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5" name="TextBox 15374"/>
          <p:cNvSpPr txBox="1"/>
          <p:nvPr/>
        </p:nvSpPr>
        <p:spPr>
          <a:xfrm>
            <a:off x="8549640" y="3127248"/>
            <a:ext cx="1737360" cy="36576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/>
            <a:r>
              <a:rPr sz="1600" b="1" i="0">
                <a:solidFill>
                  <a:srgbClr val="111827"/>
                </a:solidFill>
                <a:latin typeface="Times New Roman"/>
              </a:rPr>
              <a:t>Novelty</a:t>
            </a:r>
          </a:p>
        </p:txBody>
      </p:sp>
      <p:sp>
        <p:nvSpPr>
          <p:cNvPr id="15376" name="TextBox 15375"/>
          <p:cNvSpPr txBox="1"/>
          <p:nvPr/>
        </p:nvSpPr>
        <p:spPr>
          <a:xfrm>
            <a:off x="7040880" y="3566160"/>
            <a:ext cx="4800600" cy="265176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953735"/>
                </a:solidFill>
                <a:latin typeface="Wingdings"/>
              </a:rPr>
              <a:t>v</a:t>
            </a:r>
            <a:r>
              <a:rPr sz="150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500" b="1" i="0">
                <a:solidFill>
                  <a:srgbClr val="953735"/>
                </a:solidFill>
                <a:latin typeface="Times New Roman"/>
              </a:rPr>
              <a:t>Truth Score: </a:t>
            </a:r>
            <a:r>
              <a:rPr sz="1500" b="0" i="0">
                <a:solidFill>
                  <a:srgbClr val="111827"/>
                </a:solidFill>
                <a:latin typeface="Times New Roman"/>
              </a:rPr>
              <a:t>Counselling, DigiLocker, NSP and ABC data are cross-checked.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953735"/>
                </a:solidFill>
                <a:latin typeface="Wingdings"/>
              </a:rPr>
              <a:t>v</a:t>
            </a:r>
            <a:r>
              <a:rPr sz="150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500" b="1" i="0">
                <a:solidFill>
                  <a:srgbClr val="953735"/>
                </a:solidFill>
                <a:latin typeface="Times New Roman"/>
              </a:rPr>
              <a:t>Passive Liveness: </a:t>
            </a:r>
            <a:r>
              <a:rPr sz="1500" b="0" i="0">
                <a:solidFill>
                  <a:srgbClr val="111827"/>
                </a:solidFill>
                <a:latin typeface="Times New Roman"/>
              </a:rPr>
              <a:t>No semester credits means a possible ghost student.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953735"/>
                </a:solidFill>
                <a:latin typeface="Wingdings"/>
              </a:rPr>
              <a:t>v</a:t>
            </a:r>
            <a:r>
              <a:rPr sz="150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500" b="1" i="0">
                <a:solidFill>
                  <a:srgbClr val="953735"/>
                </a:solidFill>
                <a:latin typeface="Times New Roman"/>
              </a:rPr>
              <a:t>Policy Simulator: </a:t>
            </a:r>
            <a:r>
              <a:rPr sz="1500" b="0" i="0">
                <a:solidFill>
                  <a:srgbClr val="111827"/>
                </a:solidFill>
                <a:latin typeface="Times New Roman"/>
              </a:rPr>
              <a:t>AICTE can test a new rule first.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953735"/>
                </a:solidFill>
                <a:latin typeface="Wingdings"/>
              </a:rPr>
              <a:t>v</a:t>
            </a:r>
            <a:r>
              <a:rPr sz="150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500" b="1" i="0">
                <a:solidFill>
                  <a:srgbClr val="953735"/>
                </a:solidFill>
                <a:latin typeface="Times New Roman"/>
              </a:rPr>
              <a:t>Submit Once: </a:t>
            </a:r>
            <a:r>
              <a:rPr sz="1500" b="0" i="0">
                <a:solidFill>
                  <a:srgbClr val="111827"/>
                </a:solidFill>
                <a:latin typeface="Times New Roman"/>
              </a:rPr>
              <a:t>The same data fills AICTE, AISHE and NIRF reports.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953735"/>
                </a:solidFill>
                <a:latin typeface="Wingdings"/>
              </a:rPr>
              <a:t>v</a:t>
            </a:r>
            <a:r>
              <a:rPr sz="150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500" b="1" i="0">
                <a:solidFill>
                  <a:srgbClr val="953735"/>
                </a:solidFill>
                <a:latin typeface="Times New Roman"/>
              </a:rPr>
              <a:t>Fair Review: </a:t>
            </a:r>
            <a:r>
              <a:rPr sz="1500" b="0" i="0">
                <a:solidFill>
                  <a:srgbClr val="111827"/>
                </a:solidFill>
                <a:latin typeface="Times New Roman"/>
              </a:rPr>
              <a:t>Dual-degree students are not penalised; colleges can appeal.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team_logo.png"/>
          <p:cNvPicPr>
            <a:picLocks noChangeAspect="1"/>
          </p:cNvPicPr>
          <p:nvPr/>
        </p:nvPicPr>
        <p:blipFill>
          <a:blip r:embed="rId4"/>
          <a:srcRect l="7676" r="7676"/>
          <a:stretch>
            <a:fillRect/>
          </a:stretch>
        </p:blipFill>
        <p:spPr>
          <a:xfrm>
            <a:off x="329773" y="252246"/>
            <a:ext cx="1251857" cy="807334"/>
          </a:xfrm>
          <a:prstGeom prst="ellipse">
            <a:avLst/>
          </a:prstGeom>
          <a:ln w="19050">
            <a:solidFill>
              <a:srgbClr val="7030A0"/>
            </a:solidFill>
          </a:ln>
        </p:spPr>
      </p:pic>
      <p:sp>
        <p:nvSpPr>
          <p:cNvPr id="17411" name="Rounded Rectangle 17410"/>
          <p:cNvSpPr/>
          <p:nvPr/>
        </p:nvSpPr>
        <p:spPr>
          <a:xfrm>
            <a:off x="274320" y="1097280"/>
            <a:ext cx="2148840" cy="91440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E6F8FC"/>
              </a:gs>
              <a:gs pos="100000">
                <a:srgbClr val="A6E3F2"/>
              </a:gs>
            </a:gsLst>
            <a:lin ang="5400000" scaled="0"/>
          </a:gradFill>
          <a:ln w="15875">
            <a:solidFill>
              <a:srgbClr val="4FB3D1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2" name="Picture 17411" descr="upload_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1188720"/>
            <a:ext cx="274320" cy="274320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365760" y="1143000"/>
            <a:ext cx="1691640" cy="86868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/>
            <a:r>
              <a:rPr sz="1500" b="0" i="0">
                <a:solidFill>
                  <a:srgbClr val="111827"/>
                </a:solidFill>
                <a:latin typeface="Times New Roman"/>
              </a:rPr>
              <a:t>Student Data Upload</a:t>
            </a:r>
          </a:p>
          <a:p>
            <a:pPr algn="l"/>
            <a:r>
              <a:rPr sz="1150" b="0" i="0">
                <a:solidFill>
                  <a:srgbClr val="111827"/>
                </a:solidFill>
                <a:latin typeface="Times New Roman"/>
              </a:rPr>
              <a:t>(Excel or API, signed by Principal)</a:t>
            </a:r>
          </a:p>
        </p:txBody>
      </p:sp>
      <p:cxnSp>
        <p:nvCxnSpPr>
          <p:cNvPr id="17414" name="Connector 17413"/>
          <p:cNvCxnSpPr/>
          <p:nvPr/>
        </p:nvCxnSpPr>
        <p:spPr>
          <a:xfrm>
            <a:off x="2441448" y="1554480"/>
            <a:ext cx="192024" cy="0"/>
          </a:xfrm>
          <a:prstGeom prst="line">
            <a:avLst/>
          </a:prstGeom>
          <a:ln w="22225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5" name="Rounded Rectangle 17414"/>
          <p:cNvSpPr/>
          <p:nvPr/>
        </p:nvSpPr>
        <p:spPr>
          <a:xfrm>
            <a:off x="2651760" y="1097280"/>
            <a:ext cx="2148840" cy="91440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FDEBDD"/>
              </a:gs>
              <a:gs pos="100000">
                <a:srgbClr val="F8C9A4"/>
              </a:gs>
            </a:gsLst>
            <a:lin ang="5400000" scaled="0"/>
          </a:gradFill>
          <a:ln w="15875">
            <a:solidFill>
              <a:srgbClr val="F4A261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6" name="Picture 17415" descr="idcard_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1188720"/>
            <a:ext cx="274320" cy="274320"/>
          </a:xfrm>
          <a:prstGeom prst="rect">
            <a:avLst/>
          </a:prstGeom>
        </p:spPr>
      </p:pic>
      <p:sp>
        <p:nvSpPr>
          <p:cNvPr id="17417" name="TextBox 17416"/>
          <p:cNvSpPr txBox="1"/>
          <p:nvPr/>
        </p:nvSpPr>
        <p:spPr>
          <a:xfrm>
            <a:off x="2743200" y="1143000"/>
            <a:ext cx="1691640" cy="86868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/>
            <a:r>
              <a:rPr sz="1500" b="0" i="0">
                <a:solidFill>
                  <a:srgbClr val="111827"/>
                </a:solidFill>
                <a:latin typeface="Times New Roman"/>
              </a:rPr>
              <a:t>APAAR Validation</a:t>
            </a:r>
          </a:p>
          <a:p>
            <a:pPr algn="l"/>
            <a:r>
              <a:rPr sz="1150" b="0" i="0">
                <a:solidFill>
                  <a:srgbClr val="111827"/>
                </a:solidFill>
                <a:latin typeface="Times New Roman"/>
              </a:rPr>
              <a:t>(ID format and duplicate check)</a:t>
            </a:r>
          </a:p>
        </p:txBody>
      </p:sp>
      <p:cxnSp>
        <p:nvCxnSpPr>
          <p:cNvPr id="17418" name="Connector 17417"/>
          <p:cNvCxnSpPr/>
          <p:nvPr/>
        </p:nvCxnSpPr>
        <p:spPr>
          <a:xfrm>
            <a:off x="4818888" y="1554480"/>
            <a:ext cx="192024" cy="0"/>
          </a:xfrm>
          <a:prstGeom prst="line">
            <a:avLst/>
          </a:prstGeom>
          <a:ln w="22225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9" name="Rounded Rectangle 17418"/>
          <p:cNvSpPr/>
          <p:nvPr/>
        </p:nvSpPr>
        <p:spPr>
          <a:xfrm>
            <a:off x="5029200" y="1097280"/>
            <a:ext cx="2148840" cy="91440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ECE4FB"/>
              </a:gs>
              <a:gs pos="100000">
                <a:srgbClr val="C3B1EC"/>
              </a:gs>
            </a:gsLst>
            <a:lin ang="5400000" scaled="0"/>
          </a:gradFill>
          <a:ln w="15875">
            <a:solidFill>
              <a:srgbClr val="8E6FC9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0" name="Picture 17419" descr="policy_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2279" y="1188720"/>
            <a:ext cx="274320" cy="274320"/>
          </a:xfrm>
          <a:prstGeom prst="rect">
            <a:avLst/>
          </a:prstGeom>
        </p:spPr>
      </p:pic>
      <p:sp>
        <p:nvSpPr>
          <p:cNvPr id="17421" name="TextBox 17420"/>
          <p:cNvSpPr txBox="1"/>
          <p:nvPr/>
        </p:nvSpPr>
        <p:spPr>
          <a:xfrm>
            <a:off x="5120640" y="1143000"/>
            <a:ext cx="1691640" cy="86868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/>
            <a:r>
              <a:rPr sz="1500" b="0" i="0">
                <a:solidFill>
                  <a:srgbClr val="111827"/>
                </a:solidFill>
                <a:latin typeface="Times New Roman"/>
              </a:rPr>
              <a:t>Seat and Rule Check</a:t>
            </a:r>
          </a:p>
          <a:p>
            <a:pPr algn="l"/>
            <a:r>
              <a:rPr sz="1150" b="0" i="0">
                <a:solidFill>
                  <a:srgbClr val="111827"/>
                </a:solidFill>
                <a:latin typeface="Times New Roman"/>
              </a:rPr>
              <a:t>(approved intake, quota rules)</a:t>
            </a:r>
          </a:p>
        </p:txBody>
      </p:sp>
      <p:cxnSp>
        <p:nvCxnSpPr>
          <p:cNvPr id="17422" name="Connector 17421"/>
          <p:cNvCxnSpPr/>
          <p:nvPr/>
        </p:nvCxnSpPr>
        <p:spPr>
          <a:xfrm>
            <a:off x="7196327" y="1554480"/>
            <a:ext cx="192025" cy="0"/>
          </a:xfrm>
          <a:prstGeom prst="line">
            <a:avLst/>
          </a:prstGeom>
          <a:ln w="22225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3" name="Rounded Rectangle 17422"/>
          <p:cNvSpPr/>
          <p:nvPr/>
        </p:nvSpPr>
        <p:spPr>
          <a:xfrm>
            <a:off x="7406640" y="1097280"/>
            <a:ext cx="2148840" cy="91440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FDEBDD"/>
              </a:gs>
              <a:gs pos="100000">
                <a:srgbClr val="F8C9A4"/>
              </a:gs>
            </a:gsLst>
            <a:lin ang="5400000" scaled="0"/>
          </a:gradFill>
          <a:ln w="15875">
            <a:solidFill>
              <a:srgbClr val="F4A261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4" name="Picture 17423" descr="shield_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9720" y="1188720"/>
            <a:ext cx="274320" cy="274320"/>
          </a:xfrm>
          <a:prstGeom prst="rect">
            <a:avLst/>
          </a:prstGeom>
        </p:spPr>
      </p:pic>
      <p:sp>
        <p:nvSpPr>
          <p:cNvPr id="17425" name="TextBox 17424"/>
          <p:cNvSpPr txBox="1"/>
          <p:nvPr/>
        </p:nvSpPr>
        <p:spPr>
          <a:xfrm>
            <a:off x="7498080" y="1143000"/>
            <a:ext cx="1691640" cy="86868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/>
            <a:r>
              <a:rPr sz="1500" b="0" i="0">
                <a:solidFill>
                  <a:srgbClr val="111827"/>
                </a:solidFill>
                <a:latin typeface="Times New Roman"/>
              </a:rPr>
              <a:t>Multi-Source Verification</a:t>
            </a:r>
          </a:p>
          <a:p>
            <a:pPr algn="l"/>
            <a:r>
              <a:rPr sz="1150" b="0" i="0">
                <a:solidFill>
                  <a:srgbClr val="111827"/>
                </a:solidFill>
                <a:latin typeface="Times New Roman"/>
              </a:rPr>
              <a:t>(counselling, DigiLocker, NSP, ABC)</a:t>
            </a:r>
          </a:p>
        </p:txBody>
      </p:sp>
      <p:cxnSp>
        <p:nvCxnSpPr>
          <p:cNvPr id="17426" name="Connector 17425"/>
          <p:cNvCxnSpPr/>
          <p:nvPr/>
        </p:nvCxnSpPr>
        <p:spPr>
          <a:xfrm>
            <a:off x="9573768" y="1554480"/>
            <a:ext cx="192024" cy="0"/>
          </a:xfrm>
          <a:prstGeom prst="line">
            <a:avLst/>
          </a:prstGeom>
          <a:ln w="22225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7" name="Rounded Rectangle 17426"/>
          <p:cNvSpPr/>
          <p:nvPr/>
        </p:nvSpPr>
        <p:spPr>
          <a:xfrm>
            <a:off x="9784080" y="1097280"/>
            <a:ext cx="2148840" cy="91440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E6F8FC"/>
              </a:gs>
              <a:gs pos="100000">
                <a:srgbClr val="A6E3F2"/>
              </a:gs>
            </a:gsLst>
            <a:lin ang="5400000" scaled="0"/>
          </a:gradFill>
          <a:ln w="15875">
            <a:solidFill>
              <a:srgbClr val="4FB3D1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8" name="Picture 17427" descr="db_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67160" y="1188720"/>
            <a:ext cx="274320" cy="274320"/>
          </a:xfrm>
          <a:prstGeom prst="rect">
            <a:avLst/>
          </a:prstGeom>
        </p:spPr>
      </p:pic>
      <p:sp>
        <p:nvSpPr>
          <p:cNvPr id="17429" name="TextBox 17428"/>
          <p:cNvSpPr txBox="1"/>
          <p:nvPr/>
        </p:nvSpPr>
        <p:spPr>
          <a:xfrm>
            <a:off x="9875520" y="1143000"/>
            <a:ext cx="1691640" cy="86868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/>
            <a:r>
              <a:rPr sz="1500" b="0" i="0">
                <a:solidFill>
                  <a:srgbClr val="111827"/>
                </a:solidFill>
                <a:latin typeface="Times New Roman"/>
              </a:rPr>
              <a:t>Central Repository</a:t>
            </a:r>
          </a:p>
          <a:p>
            <a:pPr algn="l"/>
            <a:r>
              <a:rPr sz="1150" b="0" i="0">
                <a:solidFill>
                  <a:srgbClr val="111827"/>
                </a:solidFill>
                <a:latin typeface="Times New Roman"/>
              </a:rPr>
              <a:t>(secure storage with audit trail)</a:t>
            </a:r>
          </a:p>
        </p:txBody>
      </p:sp>
      <p:cxnSp>
        <p:nvCxnSpPr>
          <p:cNvPr id="17430" name="Connector 17429"/>
          <p:cNvCxnSpPr/>
          <p:nvPr/>
        </p:nvCxnSpPr>
        <p:spPr>
          <a:xfrm>
            <a:off x="6103620" y="2011680"/>
            <a:ext cx="0" cy="118872"/>
          </a:xfrm>
          <a:prstGeom prst="line">
            <a:avLst/>
          </a:prstGeom>
          <a:ln w="1905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1" name="Connector 17430"/>
          <p:cNvCxnSpPr/>
          <p:nvPr/>
        </p:nvCxnSpPr>
        <p:spPr>
          <a:xfrm>
            <a:off x="1348740" y="2130552"/>
            <a:ext cx="9509760" cy="0"/>
          </a:xfrm>
          <a:prstGeom prst="line">
            <a:avLst/>
          </a:prstGeom>
          <a:ln w="1905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2" name="Connector 17431"/>
          <p:cNvCxnSpPr/>
          <p:nvPr/>
        </p:nvCxnSpPr>
        <p:spPr>
          <a:xfrm>
            <a:off x="1348740" y="2130552"/>
            <a:ext cx="0" cy="109728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3" name="Oval 17432"/>
          <p:cNvSpPr/>
          <p:nvPr/>
        </p:nvSpPr>
        <p:spPr>
          <a:xfrm>
            <a:off x="347472" y="2240280"/>
            <a:ext cx="2002536" cy="475488"/>
          </a:xfrm>
          <a:prstGeom prst="ellipse">
            <a:avLst/>
          </a:prstGeom>
          <a:gradFill rotWithShape="1">
            <a:gsLst>
              <a:gs pos="0">
                <a:srgbClr val="E6F4D7"/>
              </a:gs>
              <a:gs pos="100000">
                <a:srgbClr val="B9DD95"/>
              </a:gs>
            </a:gsLst>
            <a:lin ang="5400000" scaled="0"/>
          </a:gradFill>
          <a:ln w="15875">
            <a:solidFill>
              <a:srgbClr val="6A9F3B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4" name="TextBox 17433"/>
          <p:cNvSpPr txBox="1"/>
          <p:nvPr/>
        </p:nvSpPr>
        <p:spPr>
          <a:xfrm>
            <a:off x="347472" y="2240280"/>
            <a:ext cx="2002536" cy="47548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/>
            <a:r>
              <a:rPr sz="1450" b="0" i="0">
                <a:solidFill>
                  <a:srgbClr val="111827"/>
                </a:solidFill>
                <a:latin typeface="Times New Roman"/>
              </a:rPr>
              <a:t>Seat Ledger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274320" y="2816352"/>
            <a:ext cx="2148840" cy="5029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E6F8FC"/>
              </a:gs>
              <a:gs pos="100000">
                <a:srgbClr val="A6E3F2"/>
              </a:gs>
            </a:gsLst>
            <a:lin ang="5400000" scaled="0"/>
          </a:gradFill>
          <a:ln w="15875">
            <a:solidFill>
              <a:srgbClr val="4FB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6" name="TextBox 17435"/>
          <p:cNvSpPr txBox="1"/>
          <p:nvPr/>
        </p:nvSpPr>
        <p:spPr>
          <a:xfrm>
            <a:off x="320040" y="2816352"/>
            <a:ext cx="2057400" cy="50292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ctr"/>
            <a:r>
              <a:rPr sz="1300" b="0" i="0">
                <a:solidFill>
                  <a:srgbClr val="111827"/>
                </a:solidFill>
                <a:latin typeface="Times New Roman"/>
              </a:rPr>
              <a:t>Seats issued from approval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274320" y="3383280"/>
            <a:ext cx="2148840" cy="5029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E6F8FC"/>
              </a:gs>
              <a:gs pos="100000">
                <a:srgbClr val="A6E3F2"/>
              </a:gs>
            </a:gsLst>
            <a:lin ang="5400000" scaled="0"/>
          </a:gradFill>
          <a:ln w="15875">
            <a:solidFill>
              <a:srgbClr val="4FB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8" name="TextBox 17437"/>
          <p:cNvSpPr txBox="1"/>
          <p:nvPr/>
        </p:nvSpPr>
        <p:spPr>
          <a:xfrm>
            <a:off x="320040" y="3383280"/>
            <a:ext cx="2057400" cy="50292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ctr"/>
            <a:r>
              <a:rPr sz="1300" b="0" i="0">
                <a:solidFill>
                  <a:srgbClr val="111827"/>
                </a:solidFill>
                <a:latin typeface="Times New Roman"/>
              </a:rPr>
              <a:t>Extra uploads blocked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274320" y="3950208"/>
            <a:ext cx="2148840" cy="5029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E6F8FC"/>
              </a:gs>
              <a:gs pos="100000">
                <a:srgbClr val="A6E3F2"/>
              </a:gs>
            </a:gsLst>
            <a:lin ang="5400000" scaled="0"/>
          </a:gradFill>
          <a:ln w="15875">
            <a:solidFill>
              <a:srgbClr val="4FB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0" name="TextBox 17439"/>
          <p:cNvSpPr txBox="1"/>
          <p:nvPr/>
        </p:nvSpPr>
        <p:spPr>
          <a:xfrm>
            <a:off x="320040" y="3950208"/>
            <a:ext cx="2057400" cy="50292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ctr"/>
            <a:r>
              <a:rPr sz="1300" b="0" i="0">
                <a:solidFill>
                  <a:srgbClr val="111827"/>
                </a:solidFill>
                <a:latin typeface="Times New Roman"/>
              </a:rPr>
              <a:t>Quota-wise tracking</a:t>
            </a:r>
          </a:p>
        </p:txBody>
      </p:sp>
      <p:cxnSp>
        <p:nvCxnSpPr>
          <p:cNvPr id="17441" name="Connector 17440"/>
          <p:cNvCxnSpPr/>
          <p:nvPr/>
        </p:nvCxnSpPr>
        <p:spPr>
          <a:xfrm>
            <a:off x="1348740" y="4480560"/>
            <a:ext cx="0" cy="109728"/>
          </a:xfrm>
          <a:prstGeom prst="line">
            <a:avLst/>
          </a:prstGeom>
          <a:ln w="1905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2" name="Connector 17441"/>
          <p:cNvCxnSpPr/>
          <p:nvPr/>
        </p:nvCxnSpPr>
        <p:spPr>
          <a:xfrm>
            <a:off x="3726180" y="2130552"/>
            <a:ext cx="0" cy="109728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3" name="Oval 17442"/>
          <p:cNvSpPr/>
          <p:nvPr/>
        </p:nvSpPr>
        <p:spPr>
          <a:xfrm>
            <a:off x="2724912" y="2240280"/>
            <a:ext cx="2002536" cy="475488"/>
          </a:xfrm>
          <a:prstGeom prst="ellipse">
            <a:avLst/>
          </a:prstGeom>
          <a:gradFill rotWithShape="1">
            <a:gsLst>
              <a:gs pos="0">
                <a:srgbClr val="E6F4D7"/>
              </a:gs>
              <a:gs pos="100000">
                <a:srgbClr val="B9DD95"/>
              </a:gs>
            </a:gsLst>
            <a:lin ang="5400000" scaled="0"/>
          </a:gradFill>
          <a:ln w="15875">
            <a:solidFill>
              <a:srgbClr val="6A9F3B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4" name="TextBox 17443"/>
          <p:cNvSpPr txBox="1"/>
          <p:nvPr/>
        </p:nvSpPr>
        <p:spPr>
          <a:xfrm>
            <a:off x="2724912" y="2240280"/>
            <a:ext cx="2002536" cy="47548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/>
            <a:r>
              <a:rPr sz="1450" b="0" i="0">
                <a:solidFill>
                  <a:srgbClr val="111827"/>
                </a:solidFill>
                <a:latin typeface="Times New Roman"/>
              </a:rPr>
              <a:t>Duplicate Check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2651760" y="2816352"/>
            <a:ext cx="2148840" cy="5029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DEBDD"/>
              </a:gs>
              <a:gs pos="100000">
                <a:srgbClr val="F8C9A4"/>
              </a:gs>
            </a:gsLst>
            <a:lin ang="5400000" scaled="0"/>
          </a:gradFill>
          <a:ln w="15875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6" name="TextBox 17445"/>
          <p:cNvSpPr txBox="1"/>
          <p:nvPr/>
        </p:nvSpPr>
        <p:spPr>
          <a:xfrm>
            <a:off x="2697479" y="2816352"/>
            <a:ext cx="2057400" cy="50292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ctr"/>
            <a:r>
              <a:rPr sz="1300" b="0" i="0">
                <a:solidFill>
                  <a:srgbClr val="111827"/>
                </a:solidFill>
                <a:latin typeface="Times New Roman"/>
              </a:rPr>
              <a:t>Hashed APAAR matching</a:t>
            </a:r>
          </a:p>
        </p:txBody>
      </p:sp>
      <p:sp>
        <p:nvSpPr>
          <p:cNvPr id="17447" name="Rounded Rectangle 17446"/>
          <p:cNvSpPr/>
          <p:nvPr/>
        </p:nvSpPr>
        <p:spPr>
          <a:xfrm>
            <a:off x="2651760" y="3383280"/>
            <a:ext cx="2148840" cy="5029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DEBDD"/>
              </a:gs>
              <a:gs pos="100000">
                <a:srgbClr val="F8C9A4"/>
              </a:gs>
            </a:gsLst>
            <a:lin ang="5400000" scaled="0"/>
          </a:gradFill>
          <a:ln w="15875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8" name="TextBox 17447"/>
          <p:cNvSpPr txBox="1"/>
          <p:nvPr/>
        </p:nvSpPr>
        <p:spPr>
          <a:xfrm>
            <a:off x="2697479" y="3383280"/>
            <a:ext cx="2057400" cy="50292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ctr"/>
            <a:r>
              <a:rPr sz="1300" b="0" i="0">
                <a:solidFill>
                  <a:srgbClr val="111827"/>
                </a:solidFill>
                <a:latin typeface="Times New Roman"/>
              </a:rPr>
              <a:t>Similar name matching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2651760" y="3950208"/>
            <a:ext cx="2148840" cy="5029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DEBDD"/>
              </a:gs>
              <a:gs pos="100000">
                <a:srgbClr val="F8C9A4"/>
              </a:gs>
            </a:gsLst>
            <a:lin ang="5400000" scaled="0"/>
          </a:gradFill>
          <a:ln w="15875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0" name="TextBox 17449"/>
          <p:cNvSpPr txBox="1"/>
          <p:nvPr/>
        </p:nvSpPr>
        <p:spPr>
          <a:xfrm>
            <a:off x="2697479" y="3950208"/>
            <a:ext cx="2057400" cy="50292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ctr"/>
            <a:r>
              <a:rPr sz="1300" b="0" i="0">
                <a:solidFill>
                  <a:srgbClr val="111827"/>
                </a:solidFill>
                <a:latin typeface="Times New Roman"/>
              </a:rPr>
              <a:t>Shared mobile / bank links</a:t>
            </a:r>
          </a:p>
        </p:txBody>
      </p:sp>
      <p:cxnSp>
        <p:nvCxnSpPr>
          <p:cNvPr id="17451" name="Connector 17450"/>
          <p:cNvCxnSpPr/>
          <p:nvPr/>
        </p:nvCxnSpPr>
        <p:spPr>
          <a:xfrm>
            <a:off x="3726180" y="4480560"/>
            <a:ext cx="0" cy="109728"/>
          </a:xfrm>
          <a:prstGeom prst="line">
            <a:avLst/>
          </a:prstGeom>
          <a:ln w="1905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52" name="Connector 17451"/>
          <p:cNvCxnSpPr/>
          <p:nvPr/>
        </p:nvCxnSpPr>
        <p:spPr>
          <a:xfrm>
            <a:off x="6103620" y="2130552"/>
            <a:ext cx="0" cy="109728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3" name="Oval 17452"/>
          <p:cNvSpPr/>
          <p:nvPr/>
        </p:nvSpPr>
        <p:spPr>
          <a:xfrm>
            <a:off x="5102352" y="2240280"/>
            <a:ext cx="2002536" cy="475488"/>
          </a:xfrm>
          <a:prstGeom prst="ellipse">
            <a:avLst/>
          </a:prstGeom>
          <a:gradFill rotWithShape="1">
            <a:gsLst>
              <a:gs pos="0">
                <a:srgbClr val="E6F4D7"/>
              </a:gs>
              <a:gs pos="100000">
                <a:srgbClr val="B9DD95"/>
              </a:gs>
            </a:gsLst>
            <a:lin ang="5400000" scaled="0"/>
          </a:gradFill>
          <a:ln w="15875">
            <a:solidFill>
              <a:srgbClr val="6A9F3B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4" name="TextBox 17453"/>
          <p:cNvSpPr txBox="1"/>
          <p:nvPr/>
        </p:nvSpPr>
        <p:spPr>
          <a:xfrm>
            <a:off x="5102352" y="2240280"/>
            <a:ext cx="2002536" cy="47548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/>
            <a:r>
              <a:rPr sz="1450" b="0" i="0">
                <a:solidFill>
                  <a:srgbClr val="111827"/>
                </a:solidFill>
                <a:latin typeface="Times New Roman"/>
              </a:rPr>
              <a:t>Student Confirmation</a:t>
            </a:r>
          </a:p>
        </p:txBody>
      </p:sp>
      <p:sp>
        <p:nvSpPr>
          <p:cNvPr id="17455" name="Rounded Rectangle 17454"/>
          <p:cNvSpPr/>
          <p:nvPr/>
        </p:nvSpPr>
        <p:spPr>
          <a:xfrm>
            <a:off x="5029200" y="2816352"/>
            <a:ext cx="2148840" cy="5029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ECE4FB"/>
              </a:gs>
              <a:gs pos="100000">
                <a:srgbClr val="C3B1EC"/>
              </a:gs>
            </a:gsLst>
            <a:lin ang="5400000" scaled="0"/>
          </a:gradFill>
          <a:ln w="15875">
            <a:solidFill>
              <a:srgbClr val="8E6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6" name="TextBox 17455"/>
          <p:cNvSpPr txBox="1"/>
          <p:nvPr/>
        </p:nvSpPr>
        <p:spPr>
          <a:xfrm>
            <a:off x="5074920" y="2816352"/>
            <a:ext cx="2057400" cy="50292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ctr"/>
            <a:r>
              <a:rPr sz="1300" b="0" i="0">
                <a:solidFill>
                  <a:srgbClr val="111827"/>
                </a:solidFill>
                <a:latin typeface="Times New Roman"/>
              </a:rPr>
              <a:t>DigiLocker, SMS or IVR</a:t>
            </a:r>
          </a:p>
        </p:txBody>
      </p:sp>
      <p:sp>
        <p:nvSpPr>
          <p:cNvPr id="17457" name="Rounded Rectangle 17456"/>
          <p:cNvSpPr/>
          <p:nvPr/>
        </p:nvSpPr>
        <p:spPr>
          <a:xfrm>
            <a:off x="5029200" y="3383280"/>
            <a:ext cx="2148840" cy="5029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ECE4FB"/>
              </a:gs>
              <a:gs pos="100000">
                <a:srgbClr val="C3B1EC"/>
              </a:gs>
            </a:gsLst>
            <a:lin ang="5400000" scaled="0"/>
          </a:gradFill>
          <a:ln w="15875">
            <a:solidFill>
              <a:srgbClr val="8E6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8" name="TextBox 17457"/>
          <p:cNvSpPr txBox="1"/>
          <p:nvPr/>
        </p:nvSpPr>
        <p:spPr>
          <a:xfrm>
            <a:off x="5074920" y="3383280"/>
            <a:ext cx="2057400" cy="50292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ctr"/>
            <a:r>
              <a:rPr sz="1300" b="0" i="0">
                <a:solidFill>
                  <a:srgbClr val="111827"/>
                </a:solidFill>
                <a:latin typeface="Times New Roman"/>
              </a:rPr>
              <a:t>“I did not join” option</a:t>
            </a:r>
          </a:p>
        </p:txBody>
      </p:sp>
      <p:sp>
        <p:nvSpPr>
          <p:cNvPr id="17459" name="Rounded Rectangle 17458"/>
          <p:cNvSpPr/>
          <p:nvPr/>
        </p:nvSpPr>
        <p:spPr>
          <a:xfrm>
            <a:off x="5029200" y="3950208"/>
            <a:ext cx="2148840" cy="5029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ECE4FB"/>
              </a:gs>
              <a:gs pos="100000">
                <a:srgbClr val="C3B1EC"/>
              </a:gs>
            </a:gsLst>
            <a:lin ang="5400000" scaled="0"/>
          </a:gradFill>
          <a:ln w="15875">
            <a:solidFill>
              <a:srgbClr val="8E6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0" name="TextBox 17459"/>
          <p:cNvSpPr txBox="1"/>
          <p:nvPr/>
        </p:nvSpPr>
        <p:spPr>
          <a:xfrm>
            <a:off x="5074920" y="3950208"/>
            <a:ext cx="2057400" cy="50292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ctr"/>
            <a:r>
              <a:rPr sz="1300" b="0" i="0">
                <a:solidFill>
                  <a:srgbClr val="111827"/>
                </a:solidFill>
                <a:latin typeface="Times New Roman"/>
              </a:rPr>
              <a:t>Seat surrender request</a:t>
            </a:r>
          </a:p>
        </p:txBody>
      </p:sp>
      <p:cxnSp>
        <p:nvCxnSpPr>
          <p:cNvPr id="17461" name="Connector 17460"/>
          <p:cNvCxnSpPr/>
          <p:nvPr/>
        </p:nvCxnSpPr>
        <p:spPr>
          <a:xfrm>
            <a:off x="6103620" y="4480560"/>
            <a:ext cx="0" cy="109728"/>
          </a:xfrm>
          <a:prstGeom prst="line">
            <a:avLst/>
          </a:prstGeom>
          <a:ln w="1905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62" name="Connector 17461"/>
          <p:cNvCxnSpPr/>
          <p:nvPr/>
        </p:nvCxnSpPr>
        <p:spPr>
          <a:xfrm>
            <a:off x="8481060" y="2130552"/>
            <a:ext cx="0" cy="109728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3" name="Oval 17462"/>
          <p:cNvSpPr/>
          <p:nvPr/>
        </p:nvSpPr>
        <p:spPr>
          <a:xfrm>
            <a:off x="7479792" y="2240280"/>
            <a:ext cx="2002536" cy="475488"/>
          </a:xfrm>
          <a:prstGeom prst="ellipse">
            <a:avLst/>
          </a:prstGeom>
          <a:gradFill rotWithShape="1">
            <a:gsLst>
              <a:gs pos="0">
                <a:srgbClr val="E6F4D7"/>
              </a:gs>
              <a:gs pos="100000">
                <a:srgbClr val="B9DD95"/>
              </a:gs>
            </a:gsLst>
            <a:lin ang="5400000" scaled="0"/>
          </a:gradFill>
          <a:ln w="15875">
            <a:solidFill>
              <a:srgbClr val="6A9F3B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4" name="TextBox 17463"/>
          <p:cNvSpPr txBox="1"/>
          <p:nvPr/>
        </p:nvSpPr>
        <p:spPr>
          <a:xfrm>
            <a:off x="7479792" y="2240280"/>
            <a:ext cx="2002536" cy="47548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/>
            <a:r>
              <a:rPr sz="1450" b="0" i="0">
                <a:solidFill>
                  <a:srgbClr val="111827"/>
                </a:solidFill>
                <a:latin typeface="Times New Roman"/>
              </a:rPr>
              <a:t>Truth Score</a:t>
            </a:r>
          </a:p>
        </p:txBody>
      </p:sp>
      <p:sp>
        <p:nvSpPr>
          <p:cNvPr id="17465" name="Rounded Rectangle 17464"/>
          <p:cNvSpPr/>
          <p:nvPr/>
        </p:nvSpPr>
        <p:spPr>
          <a:xfrm>
            <a:off x="7406640" y="2816352"/>
            <a:ext cx="2148840" cy="5029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DEBDD"/>
              </a:gs>
              <a:gs pos="100000">
                <a:srgbClr val="F8C9A4"/>
              </a:gs>
            </a:gsLst>
            <a:lin ang="5400000" scaled="0"/>
          </a:gradFill>
          <a:ln w="15875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6" name="TextBox 17465"/>
          <p:cNvSpPr txBox="1"/>
          <p:nvPr/>
        </p:nvSpPr>
        <p:spPr>
          <a:xfrm>
            <a:off x="7452360" y="2816352"/>
            <a:ext cx="2057400" cy="50292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ctr"/>
            <a:r>
              <a:rPr sz="1300" b="0" i="0">
                <a:solidFill>
                  <a:srgbClr val="111827"/>
                </a:solidFill>
                <a:latin typeface="Times New Roman"/>
              </a:rPr>
              <a:t>Score from 6 sources</a:t>
            </a:r>
          </a:p>
        </p:txBody>
      </p:sp>
      <p:sp>
        <p:nvSpPr>
          <p:cNvPr id="17467" name="Rounded Rectangle 17466"/>
          <p:cNvSpPr/>
          <p:nvPr/>
        </p:nvSpPr>
        <p:spPr>
          <a:xfrm>
            <a:off x="7406640" y="3383280"/>
            <a:ext cx="2148840" cy="5029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DEBDD"/>
              </a:gs>
              <a:gs pos="100000">
                <a:srgbClr val="F8C9A4"/>
              </a:gs>
            </a:gsLst>
            <a:lin ang="5400000" scaled="0"/>
          </a:gradFill>
          <a:ln w="15875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8" name="TextBox 17467"/>
          <p:cNvSpPr txBox="1"/>
          <p:nvPr/>
        </p:nvSpPr>
        <p:spPr>
          <a:xfrm>
            <a:off x="7452360" y="3383280"/>
            <a:ext cx="2057400" cy="50292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ctr"/>
            <a:r>
              <a:rPr sz="1300" b="0" i="0">
                <a:solidFill>
                  <a:srgbClr val="111827"/>
                </a:solidFill>
                <a:latin typeface="Times New Roman"/>
              </a:rPr>
              <a:t>Verified or under review</a:t>
            </a:r>
          </a:p>
        </p:txBody>
      </p:sp>
      <p:sp>
        <p:nvSpPr>
          <p:cNvPr id="17469" name="Rounded Rectangle 17468"/>
          <p:cNvSpPr/>
          <p:nvPr/>
        </p:nvSpPr>
        <p:spPr>
          <a:xfrm>
            <a:off x="7406640" y="3950208"/>
            <a:ext cx="2148840" cy="5029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DEBDD"/>
              </a:gs>
              <a:gs pos="100000">
                <a:srgbClr val="F8C9A4"/>
              </a:gs>
            </a:gsLst>
            <a:lin ang="5400000" scaled="0"/>
          </a:gradFill>
          <a:ln w="15875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0" name="TextBox 17469"/>
          <p:cNvSpPr txBox="1"/>
          <p:nvPr/>
        </p:nvSpPr>
        <p:spPr>
          <a:xfrm>
            <a:off x="7452360" y="3950208"/>
            <a:ext cx="2057400" cy="50292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ctr"/>
            <a:r>
              <a:rPr sz="1300" b="0" i="0">
                <a:solidFill>
                  <a:srgbClr val="111827"/>
                </a:solidFill>
                <a:latin typeface="Times New Roman"/>
              </a:rPr>
              <a:t>Reason for every flag</a:t>
            </a:r>
          </a:p>
        </p:txBody>
      </p:sp>
      <p:cxnSp>
        <p:nvCxnSpPr>
          <p:cNvPr id="17471" name="Connector 17470"/>
          <p:cNvCxnSpPr/>
          <p:nvPr/>
        </p:nvCxnSpPr>
        <p:spPr>
          <a:xfrm>
            <a:off x="8481060" y="4480560"/>
            <a:ext cx="0" cy="109728"/>
          </a:xfrm>
          <a:prstGeom prst="line">
            <a:avLst/>
          </a:prstGeom>
          <a:ln w="1905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72" name="Connector 17471"/>
          <p:cNvCxnSpPr/>
          <p:nvPr/>
        </p:nvCxnSpPr>
        <p:spPr>
          <a:xfrm>
            <a:off x="10858500" y="2130552"/>
            <a:ext cx="0" cy="109728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3" name="Oval 17472"/>
          <p:cNvSpPr/>
          <p:nvPr/>
        </p:nvSpPr>
        <p:spPr>
          <a:xfrm>
            <a:off x="9857232" y="2240280"/>
            <a:ext cx="2002536" cy="475488"/>
          </a:xfrm>
          <a:prstGeom prst="ellipse">
            <a:avLst/>
          </a:prstGeom>
          <a:gradFill rotWithShape="1">
            <a:gsLst>
              <a:gs pos="0">
                <a:srgbClr val="E6F4D7"/>
              </a:gs>
              <a:gs pos="100000">
                <a:srgbClr val="B9DD95"/>
              </a:gs>
            </a:gsLst>
            <a:lin ang="5400000" scaled="0"/>
          </a:gradFill>
          <a:ln w="15875">
            <a:solidFill>
              <a:srgbClr val="6A9F3B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4" name="TextBox 17473"/>
          <p:cNvSpPr txBox="1"/>
          <p:nvPr/>
        </p:nvSpPr>
        <p:spPr>
          <a:xfrm>
            <a:off x="9857232" y="2240280"/>
            <a:ext cx="2002536" cy="47548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/>
            <a:r>
              <a:rPr sz="1450" b="0" i="0">
                <a:solidFill>
                  <a:srgbClr val="111827"/>
                </a:solidFill>
                <a:latin typeface="Times New Roman"/>
              </a:rPr>
              <a:t>Verification</a:t>
            </a:r>
          </a:p>
        </p:txBody>
      </p:sp>
      <p:sp>
        <p:nvSpPr>
          <p:cNvPr id="17475" name="Rounded Rectangle 17474"/>
          <p:cNvSpPr/>
          <p:nvPr/>
        </p:nvSpPr>
        <p:spPr>
          <a:xfrm>
            <a:off x="9784080" y="2816352"/>
            <a:ext cx="2148840" cy="5029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E6F8FC"/>
              </a:gs>
              <a:gs pos="100000">
                <a:srgbClr val="A6E3F2"/>
              </a:gs>
            </a:gsLst>
            <a:lin ang="5400000" scaled="0"/>
          </a:gradFill>
          <a:ln w="15875">
            <a:solidFill>
              <a:srgbClr val="4FB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6" name="TextBox 17475"/>
          <p:cNvSpPr txBox="1"/>
          <p:nvPr/>
        </p:nvSpPr>
        <p:spPr>
          <a:xfrm>
            <a:off x="9829800" y="2816352"/>
            <a:ext cx="2057400" cy="50292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ctr"/>
            <a:r>
              <a:rPr sz="1300" b="0" i="0">
                <a:solidFill>
                  <a:srgbClr val="111827"/>
                </a:solidFill>
                <a:latin typeface="Times New Roman"/>
              </a:rPr>
              <a:t>QR on certificates</a:t>
            </a:r>
          </a:p>
        </p:txBody>
      </p:sp>
      <p:sp>
        <p:nvSpPr>
          <p:cNvPr id="17477" name="Rounded Rectangle 17476"/>
          <p:cNvSpPr/>
          <p:nvPr/>
        </p:nvSpPr>
        <p:spPr>
          <a:xfrm>
            <a:off x="9784080" y="3383280"/>
            <a:ext cx="2148840" cy="5029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E6F8FC"/>
              </a:gs>
              <a:gs pos="100000">
                <a:srgbClr val="A6E3F2"/>
              </a:gs>
            </a:gsLst>
            <a:lin ang="5400000" scaled="0"/>
          </a:gradFill>
          <a:ln w="15875">
            <a:solidFill>
              <a:srgbClr val="4FB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8" name="TextBox 17477"/>
          <p:cNvSpPr txBox="1"/>
          <p:nvPr/>
        </p:nvSpPr>
        <p:spPr>
          <a:xfrm>
            <a:off x="9829800" y="3383280"/>
            <a:ext cx="2057400" cy="50292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ctr"/>
            <a:r>
              <a:rPr sz="1300" b="0" i="0">
                <a:solidFill>
                  <a:srgbClr val="111827"/>
                </a:solidFill>
                <a:latin typeface="Times New Roman"/>
              </a:rPr>
              <a:t>Shows only what is needed</a:t>
            </a:r>
          </a:p>
        </p:txBody>
      </p:sp>
      <p:sp>
        <p:nvSpPr>
          <p:cNvPr id="17479" name="Rounded Rectangle 17478"/>
          <p:cNvSpPr/>
          <p:nvPr/>
        </p:nvSpPr>
        <p:spPr>
          <a:xfrm>
            <a:off x="9784080" y="3950208"/>
            <a:ext cx="2148840" cy="5029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E6F8FC"/>
              </a:gs>
              <a:gs pos="100000">
                <a:srgbClr val="A6E3F2"/>
              </a:gs>
            </a:gsLst>
            <a:lin ang="5400000" scaled="0"/>
          </a:gradFill>
          <a:ln w="15875">
            <a:solidFill>
              <a:srgbClr val="4FB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0" name="TextBox 17479"/>
          <p:cNvSpPr txBox="1"/>
          <p:nvPr/>
        </p:nvSpPr>
        <p:spPr>
          <a:xfrm>
            <a:off x="9829800" y="3950208"/>
            <a:ext cx="2057400" cy="50292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ctr"/>
            <a:r>
              <a:rPr sz="1300" b="0" i="0">
                <a:solidFill>
                  <a:srgbClr val="111827"/>
                </a:solidFill>
                <a:latin typeface="Times New Roman"/>
              </a:rPr>
              <a:t>Student sees access log</a:t>
            </a:r>
          </a:p>
        </p:txBody>
      </p:sp>
      <p:cxnSp>
        <p:nvCxnSpPr>
          <p:cNvPr id="17481" name="Connector 17480"/>
          <p:cNvCxnSpPr/>
          <p:nvPr/>
        </p:nvCxnSpPr>
        <p:spPr>
          <a:xfrm>
            <a:off x="10858500" y="4480560"/>
            <a:ext cx="0" cy="109728"/>
          </a:xfrm>
          <a:prstGeom prst="line">
            <a:avLst/>
          </a:prstGeom>
          <a:ln w="1905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82" name="Connector 17481"/>
          <p:cNvCxnSpPr/>
          <p:nvPr/>
        </p:nvCxnSpPr>
        <p:spPr>
          <a:xfrm>
            <a:off x="1348740" y="4590288"/>
            <a:ext cx="9509760" cy="0"/>
          </a:xfrm>
          <a:prstGeom prst="line">
            <a:avLst/>
          </a:prstGeom>
          <a:ln w="1905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83" name="Connector 17482"/>
          <p:cNvCxnSpPr/>
          <p:nvPr/>
        </p:nvCxnSpPr>
        <p:spPr>
          <a:xfrm>
            <a:off x="3108960" y="4590288"/>
            <a:ext cx="0" cy="100584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84" name="Connector 17483"/>
          <p:cNvCxnSpPr/>
          <p:nvPr/>
        </p:nvCxnSpPr>
        <p:spPr>
          <a:xfrm>
            <a:off x="9098280" y="4590288"/>
            <a:ext cx="0" cy="100584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5" name="Rounded Rectangle 17484"/>
          <p:cNvSpPr/>
          <p:nvPr/>
        </p:nvSpPr>
        <p:spPr>
          <a:xfrm>
            <a:off x="274320" y="4690872"/>
            <a:ext cx="5669280" cy="713232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FDE3DA"/>
              </a:gs>
              <a:gs pos="100000">
                <a:srgbClr val="F6B6A0"/>
              </a:gs>
            </a:gsLst>
            <a:lin ang="5400000" scaled="0"/>
          </a:gradFill>
          <a:ln w="15875">
            <a:solidFill>
              <a:srgbClr val="E07A5F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86" name="Picture 17485" descr="monitor_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4873752"/>
            <a:ext cx="365760" cy="365760"/>
          </a:xfrm>
          <a:prstGeom prst="rect">
            <a:avLst/>
          </a:prstGeom>
        </p:spPr>
      </p:pic>
      <p:sp>
        <p:nvSpPr>
          <p:cNvPr id="17487" name="TextBox 17486"/>
          <p:cNvSpPr txBox="1"/>
          <p:nvPr/>
        </p:nvSpPr>
        <p:spPr>
          <a:xfrm>
            <a:off x="914400" y="4690872"/>
            <a:ext cx="4937760" cy="713232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l"/>
            <a:r>
              <a:rPr sz="1500" b="0" i="0">
                <a:solidFill>
                  <a:srgbClr val="111827"/>
                </a:solidFill>
                <a:latin typeface="Times New Roman"/>
              </a:rPr>
              <a:t>AICTE Dashboard</a:t>
            </a:r>
          </a:p>
          <a:p>
            <a:pPr algn="l"/>
            <a:r>
              <a:rPr sz="1250" b="0" i="0">
                <a:solidFill>
                  <a:srgbClr val="111827"/>
                </a:solidFill>
                <a:latin typeface="Times New Roman"/>
              </a:rPr>
              <a:t>Alerts, fill rates, risky institutions and reports.</a:t>
            </a:r>
          </a:p>
        </p:txBody>
      </p:sp>
      <p:sp>
        <p:nvSpPr>
          <p:cNvPr id="17488" name="Rounded Rectangle 17487"/>
          <p:cNvSpPr/>
          <p:nvPr/>
        </p:nvSpPr>
        <p:spPr>
          <a:xfrm>
            <a:off x="6263640" y="4690872"/>
            <a:ext cx="5669280" cy="713232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FDE7C8"/>
              </a:gs>
              <a:gs pos="100000">
                <a:srgbClr val="F7B36B"/>
              </a:gs>
            </a:gsLst>
            <a:lin ang="5400000" scaled="0"/>
          </a:gradFill>
          <a:ln w="15875">
            <a:solidFill>
              <a:srgbClr val="E8913A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89" name="Picture 17488" descr="users_k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4873752"/>
            <a:ext cx="365760" cy="365760"/>
          </a:xfrm>
          <a:prstGeom prst="rect">
            <a:avLst/>
          </a:prstGeom>
        </p:spPr>
      </p:pic>
      <p:sp>
        <p:nvSpPr>
          <p:cNvPr id="17490" name="TextBox 17489"/>
          <p:cNvSpPr txBox="1"/>
          <p:nvPr/>
        </p:nvSpPr>
        <p:spPr>
          <a:xfrm>
            <a:off x="6903720" y="4690872"/>
            <a:ext cx="4937760" cy="713232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l"/>
            <a:r>
              <a:rPr sz="1500" b="0" i="0">
                <a:solidFill>
                  <a:srgbClr val="111827"/>
                </a:solidFill>
                <a:latin typeface="Times New Roman"/>
              </a:rPr>
              <a:t>Officer Review and Decision</a:t>
            </a:r>
          </a:p>
          <a:p>
            <a:pPr algn="l"/>
            <a:r>
              <a:rPr sz="1250" b="0" i="0">
                <a:solidFill>
                  <a:srgbClr val="111827"/>
                </a:solidFill>
                <a:latin typeface="Times New Roman"/>
              </a:rPr>
              <a:t>Authorised officer checks the evidence and decides.</a:t>
            </a:r>
          </a:p>
        </p:txBody>
      </p:sp>
      <p:sp>
        <p:nvSpPr>
          <p:cNvPr id="17491" name="Rounded Rectangle 17490"/>
          <p:cNvSpPr/>
          <p:nvPr/>
        </p:nvSpPr>
        <p:spPr>
          <a:xfrm>
            <a:off x="274320" y="5532120"/>
            <a:ext cx="1165860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92" name="TextBox 17491"/>
          <p:cNvSpPr txBox="1"/>
          <p:nvPr/>
        </p:nvSpPr>
        <p:spPr>
          <a:xfrm>
            <a:off x="411480" y="5532120"/>
            <a:ext cx="11430000" cy="73152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l"/>
            <a:r>
              <a:rPr sz="1350" b="1" i="0">
                <a:solidFill>
                  <a:srgbClr val="953735"/>
                </a:solidFill>
                <a:latin typeface="Times New Roman"/>
              </a:rPr>
              <a:t>Technologies Used:  </a:t>
            </a:r>
            <a:r>
              <a:rPr sz="1350" b="0" i="0">
                <a:solidFill>
                  <a:srgbClr val="111827"/>
                </a:solidFill>
                <a:latin typeface="Times New Roman"/>
              </a:rPr>
              <a:t>Next.js, React (frontend)  |  FastAPI, PostgreSQL (backend)  |  Python, NetworkX (fraud checks)  |  Keycloak, HashiCorp Vault (security)  |  Simulated APAAR, DigiLocker and NSP APIs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team_logo.png"/>
          <p:cNvPicPr>
            <a:picLocks noChangeAspect="1"/>
          </p:cNvPicPr>
          <p:nvPr/>
        </p:nvPicPr>
        <p:blipFill>
          <a:blip r:embed="rId4"/>
          <a:srcRect l="7676" r="7676"/>
          <a:stretch>
            <a:fillRect/>
          </a:stretch>
        </p:blipFill>
        <p:spPr>
          <a:xfrm>
            <a:off x="329773" y="252246"/>
            <a:ext cx="1251857" cy="807334"/>
          </a:xfrm>
          <a:prstGeom prst="ellipse">
            <a:avLst/>
          </a:prstGeom>
          <a:ln w="19050">
            <a:solidFill>
              <a:srgbClr val="7030A0"/>
            </a:solidFill>
          </a:ln>
        </p:spPr>
      </p:pic>
      <p:sp>
        <p:nvSpPr>
          <p:cNvPr id="17411" name="Rounded Rectangle 17410"/>
          <p:cNvSpPr/>
          <p:nvPr/>
        </p:nvSpPr>
        <p:spPr>
          <a:xfrm>
            <a:off x="274320" y="1097280"/>
            <a:ext cx="5715000" cy="516636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E6F8FC"/>
              </a:gs>
              <a:gs pos="100000">
                <a:srgbClr val="A6E3F2"/>
              </a:gs>
            </a:gsLst>
            <a:lin ang="5400000" scaled="0"/>
          </a:gradFill>
          <a:ln w="15875">
            <a:solidFill>
              <a:srgbClr val="4FB3D1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TextBox 17411"/>
          <p:cNvSpPr txBox="1"/>
          <p:nvPr/>
        </p:nvSpPr>
        <p:spPr>
          <a:xfrm>
            <a:off x="274320" y="1170432"/>
            <a:ext cx="5715000" cy="50292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ctr"/>
            <a:r>
              <a:rPr sz="2200" b="1" i="0">
                <a:solidFill>
                  <a:srgbClr val="111827"/>
                </a:solidFill>
                <a:latin typeface="Times New Roman"/>
              </a:rPr>
              <a:t>FEASIBILITY</a:t>
            </a:r>
          </a:p>
        </p:txBody>
      </p:sp>
      <p:sp>
        <p:nvSpPr>
          <p:cNvPr id="17413" name="Rectangle 17412"/>
          <p:cNvSpPr/>
          <p:nvPr/>
        </p:nvSpPr>
        <p:spPr>
          <a:xfrm>
            <a:off x="457200" y="1755648"/>
            <a:ext cx="534924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4" name="TextBox 17413"/>
          <p:cNvSpPr txBox="1"/>
          <p:nvPr/>
        </p:nvSpPr>
        <p:spPr>
          <a:xfrm>
            <a:off x="548640" y="1810512"/>
            <a:ext cx="5166360" cy="132588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/>
            <a:r>
              <a:rPr sz="1700" b="1" i="0">
                <a:solidFill>
                  <a:srgbClr val="953735"/>
                </a:solidFill>
                <a:latin typeface="Times New Roman"/>
              </a:rPr>
              <a:t>Analysis:</a:t>
            </a:r>
          </a:p>
          <a:p>
            <a:pPr algn="l"/>
            <a:r>
              <a:rPr sz="1500" b="0" i="0">
                <a:solidFill>
                  <a:srgbClr val="111827"/>
                </a:solidFill>
                <a:latin typeface="Times New Roman"/>
              </a:rPr>
              <a:t>Buildable with standard web technologies such as Next.js, FastAPI and PostgreSQL. Prototype screens and core checks are already built and tested on synthetic student records.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457200" y="3200400"/>
            <a:ext cx="5349240" cy="1417320"/>
          </a:xfrm>
          <a:prstGeom prst="rect">
            <a:avLst/>
          </a:prstGeom>
          <a:solidFill>
            <a:srgbClr val="A6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6" name="TextBox 17415"/>
          <p:cNvSpPr txBox="1"/>
          <p:nvPr/>
        </p:nvSpPr>
        <p:spPr>
          <a:xfrm>
            <a:off x="548640" y="3255264"/>
            <a:ext cx="5166360" cy="132588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/>
            <a:r>
              <a:rPr sz="1700" b="1" i="0">
                <a:solidFill>
                  <a:srgbClr val="953735"/>
                </a:solidFill>
                <a:latin typeface="Times New Roman"/>
              </a:rPr>
              <a:t>Challenges:</a:t>
            </a:r>
          </a:p>
          <a:p>
            <a:pPr algn="l"/>
            <a:r>
              <a:rPr sz="1500" b="0" i="0">
                <a:solidFill>
                  <a:srgbClr val="111827"/>
                </a:solidFill>
                <a:latin typeface="Times New Roman"/>
              </a:rPr>
              <a:t>No direct access to APAAR, counselling and NSP data yet. Spelling differences in Indian names may create false duplicate matches.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457200" y="4645152"/>
            <a:ext cx="534924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8" name="TextBox 17417"/>
          <p:cNvSpPr txBox="1"/>
          <p:nvPr/>
        </p:nvSpPr>
        <p:spPr>
          <a:xfrm>
            <a:off x="548640" y="4700016"/>
            <a:ext cx="5166360" cy="132588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/>
            <a:r>
              <a:rPr sz="1700" b="1" i="0">
                <a:solidFill>
                  <a:srgbClr val="953735"/>
                </a:solidFill>
                <a:latin typeface="Times New Roman"/>
              </a:rPr>
              <a:t>Strategies:</a:t>
            </a:r>
          </a:p>
          <a:p>
            <a:pPr algn="l"/>
            <a:r>
              <a:rPr sz="1500" b="0" i="0">
                <a:solidFill>
                  <a:srgbClr val="111827"/>
                </a:solidFill>
                <a:latin typeface="Times New Roman"/>
              </a:rPr>
              <a:t>Use simulated APIs with the real data formats. Normalise common name variants and send doubtful cases for manual review.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6217920" y="1097280"/>
            <a:ext cx="5715000" cy="516636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FDEBDD"/>
              </a:gs>
              <a:gs pos="100000">
                <a:srgbClr val="F8C9A4"/>
              </a:gs>
            </a:gsLst>
            <a:lin ang="5400000" scaled="0"/>
          </a:gradFill>
          <a:ln w="15875">
            <a:solidFill>
              <a:srgbClr val="F4A261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0" name="TextBox 17419"/>
          <p:cNvSpPr txBox="1"/>
          <p:nvPr/>
        </p:nvSpPr>
        <p:spPr>
          <a:xfrm>
            <a:off x="6217920" y="1170432"/>
            <a:ext cx="5715000" cy="50292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ctr"/>
            <a:r>
              <a:rPr sz="2200" b="1" i="0">
                <a:solidFill>
                  <a:srgbClr val="111827"/>
                </a:solidFill>
                <a:latin typeface="Times New Roman"/>
              </a:rPr>
              <a:t>VIABILITY</a:t>
            </a:r>
          </a:p>
        </p:txBody>
      </p:sp>
      <p:sp>
        <p:nvSpPr>
          <p:cNvPr id="17421" name="Rectangle 17420"/>
          <p:cNvSpPr/>
          <p:nvPr/>
        </p:nvSpPr>
        <p:spPr>
          <a:xfrm>
            <a:off x="6400800" y="1755648"/>
            <a:ext cx="534924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2" name="TextBox 17421"/>
          <p:cNvSpPr txBox="1"/>
          <p:nvPr/>
        </p:nvSpPr>
        <p:spPr>
          <a:xfrm>
            <a:off x="6492240" y="1810512"/>
            <a:ext cx="5166360" cy="132588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/>
            <a:r>
              <a:rPr sz="1700" b="1" i="0">
                <a:solidFill>
                  <a:srgbClr val="953735"/>
                </a:solidFill>
                <a:latin typeface="Times New Roman"/>
              </a:rPr>
              <a:t>Analysis:</a:t>
            </a:r>
          </a:p>
          <a:p>
            <a:pPr algn="l"/>
            <a:r>
              <a:rPr sz="1500" b="0" i="0">
                <a:solidFill>
                  <a:srgbClr val="111827"/>
                </a:solidFill>
                <a:latin typeface="Times New Roman"/>
              </a:rPr>
              <a:t>Low-cost platform for AICTE. Colleges save time because one verified upload fills several reports.</a:t>
            </a:r>
          </a:p>
        </p:txBody>
      </p:sp>
      <p:sp>
        <p:nvSpPr>
          <p:cNvPr id="17423" name="Rectangle 17422"/>
          <p:cNvSpPr/>
          <p:nvPr/>
        </p:nvSpPr>
        <p:spPr>
          <a:xfrm>
            <a:off x="6400800" y="3200400"/>
            <a:ext cx="5349240" cy="1417320"/>
          </a:xfrm>
          <a:prstGeom prst="rect">
            <a:avLst/>
          </a:prstGeom>
          <a:solidFill>
            <a:srgbClr val="F8C9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4" name="TextBox 17423"/>
          <p:cNvSpPr txBox="1"/>
          <p:nvPr/>
        </p:nvSpPr>
        <p:spPr>
          <a:xfrm>
            <a:off x="6492240" y="3255264"/>
            <a:ext cx="5166360" cy="132588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/>
            <a:r>
              <a:rPr sz="1700" b="1" i="0">
                <a:solidFill>
                  <a:srgbClr val="953735"/>
                </a:solidFill>
                <a:latin typeface="Times New Roman"/>
              </a:rPr>
              <a:t>Challenges:</a:t>
            </a:r>
          </a:p>
          <a:p>
            <a:pPr algn="l"/>
            <a:r>
              <a:rPr sz="1500" b="0" i="0">
                <a:solidFill>
                  <a:srgbClr val="111827"/>
                </a:solidFill>
                <a:latin typeface="Times New Roman"/>
              </a:rPr>
              <a:t>Real data access needs government approval. College adoption and DPDP Act compliance are also challenges.</a:t>
            </a:r>
          </a:p>
        </p:txBody>
      </p:sp>
      <p:sp>
        <p:nvSpPr>
          <p:cNvPr id="17425" name="Rectangle 17424"/>
          <p:cNvSpPr/>
          <p:nvPr/>
        </p:nvSpPr>
        <p:spPr>
          <a:xfrm>
            <a:off x="6400800" y="4645152"/>
            <a:ext cx="534924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6" name="TextBox 17425"/>
          <p:cNvSpPr txBox="1"/>
          <p:nvPr/>
        </p:nvSpPr>
        <p:spPr>
          <a:xfrm>
            <a:off x="6492240" y="4700016"/>
            <a:ext cx="5166360" cy="132588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/>
            <a:r>
              <a:rPr sz="1700" b="1" i="0">
                <a:solidFill>
                  <a:srgbClr val="953735"/>
                </a:solidFill>
                <a:latin typeface="Times New Roman"/>
              </a:rPr>
              <a:t>Strategies:</a:t>
            </a:r>
          </a:p>
          <a:p>
            <a:pPr algn="l"/>
            <a:r>
              <a:rPr sz="1500" b="0" i="0">
                <a:solidFill>
                  <a:srgbClr val="111827"/>
                </a:solidFill>
                <a:latin typeface="Times New Roman"/>
              </a:rPr>
              <a:t>Start with one state and its counselling cell. Use role-based access, consent records and audit logs. Free for colleges; paid verification for employers.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team_logo.png"/>
          <p:cNvPicPr>
            <a:picLocks noChangeAspect="1"/>
          </p:cNvPicPr>
          <p:nvPr/>
        </p:nvPicPr>
        <p:blipFill>
          <a:blip r:embed="rId4"/>
          <a:srcRect l="7676" r="7676"/>
          <a:stretch>
            <a:fillRect/>
          </a:stretch>
        </p:blipFill>
        <p:spPr>
          <a:xfrm>
            <a:off x="329773" y="252246"/>
            <a:ext cx="1251857" cy="807334"/>
          </a:xfrm>
          <a:prstGeom prst="ellipse">
            <a:avLst/>
          </a:prstGeom>
          <a:ln w="19050">
            <a:solidFill>
              <a:srgbClr val="7030A0"/>
            </a:solidFill>
          </a:ln>
        </p:spPr>
      </p:pic>
      <p:sp>
        <p:nvSpPr>
          <p:cNvPr id="17411" name="Rounded Rectangle 17410"/>
          <p:cNvSpPr/>
          <p:nvPr/>
        </p:nvSpPr>
        <p:spPr>
          <a:xfrm>
            <a:off x="365760" y="1536192"/>
            <a:ext cx="5623560" cy="4681728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E6F8FC"/>
              </a:gs>
              <a:gs pos="100000">
                <a:srgbClr val="A6E3F2"/>
              </a:gs>
            </a:gsLst>
            <a:lin ang="5400000" scaled="0"/>
          </a:gradFill>
          <a:ln w="15875">
            <a:solidFill>
              <a:srgbClr val="4FB3D1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Oval 17411"/>
          <p:cNvSpPr/>
          <p:nvPr/>
        </p:nvSpPr>
        <p:spPr>
          <a:xfrm>
            <a:off x="1005840" y="1097280"/>
            <a:ext cx="3657600" cy="658368"/>
          </a:xfrm>
          <a:prstGeom prst="ellipse">
            <a:avLst/>
          </a:prstGeom>
          <a:solidFill>
            <a:srgbClr val="E6F8FC"/>
          </a:solidFill>
          <a:ln w="22225">
            <a:solidFill>
              <a:srgbClr val="4FB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3" name="TextBox 17412"/>
          <p:cNvSpPr txBox="1"/>
          <p:nvPr/>
        </p:nvSpPr>
        <p:spPr>
          <a:xfrm>
            <a:off x="1005840" y="1097280"/>
            <a:ext cx="3657600" cy="65836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/>
            <a:r>
              <a:rPr sz="1700" b="1" i="0">
                <a:solidFill>
                  <a:srgbClr val="953735"/>
                </a:solidFill>
                <a:latin typeface="Times New Roman"/>
              </a:rPr>
              <a:t>POTENTIAL
IMPACTS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48640" y="1965960"/>
            <a:ext cx="5303520" cy="420624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>
              <a:spcAft>
                <a:spcPts val="800"/>
              </a:spcAft>
            </a:pPr>
            <a:r>
              <a:rPr sz="1750" b="0" i="0">
                <a:solidFill>
                  <a:srgbClr val="111827"/>
                </a:solidFill>
                <a:latin typeface="Wingdings"/>
              </a:rPr>
              <a:t>ü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Accurate Records: 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AICTE gets student-level data instead of only total numbers.</a:t>
            </a:r>
          </a:p>
          <a:p>
            <a:pPr algn="l">
              <a:spcAft>
                <a:spcPts val="800"/>
              </a:spcAft>
            </a:pPr>
            <a:r>
              <a:rPr sz="1750" b="0" i="0">
                <a:solidFill>
                  <a:srgbClr val="111827"/>
                </a:solidFill>
                <a:latin typeface="Wingdings"/>
              </a:rPr>
              <a:t>ü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Excess Admission Control: 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Seats beyond approved intake are blocked at upload.</a:t>
            </a:r>
          </a:p>
          <a:p>
            <a:pPr algn="l">
              <a:spcAft>
                <a:spcPts val="800"/>
              </a:spcAft>
            </a:pPr>
            <a:r>
              <a:rPr sz="1750" b="0" i="0">
                <a:solidFill>
                  <a:srgbClr val="111827"/>
                </a:solidFill>
                <a:latin typeface="Wingdings"/>
              </a:rPr>
              <a:t>ü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Scholarship Protection: 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Scholarships reach only verified students.</a:t>
            </a:r>
          </a:p>
          <a:p>
            <a:pPr algn="l">
              <a:spcAft>
                <a:spcPts val="800"/>
              </a:spcAft>
            </a:pPr>
            <a:r>
              <a:rPr sz="1750" b="0" i="0">
                <a:solidFill>
                  <a:srgbClr val="111827"/>
                </a:solidFill>
                <a:latin typeface="Wingdings"/>
              </a:rPr>
              <a:t>ü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Faster Inspections: 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Risk-based sampling instead of visiting every college.</a:t>
            </a:r>
          </a:p>
          <a:p>
            <a:pPr algn="l">
              <a:spcAft>
                <a:spcPts val="800"/>
              </a:spcAft>
            </a:pPr>
            <a:r>
              <a:rPr sz="1750" b="0" i="0">
                <a:solidFill>
                  <a:srgbClr val="111827"/>
                </a:solidFill>
                <a:latin typeface="Wingdings"/>
              </a:rPr>
              <a:t>ü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Student Protection: 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Students can report fake enrolment and surrender seats.</a:t>
            </a:r>
          </a:p>
          <a:p>
            <a:pPr algn="l">
              <a:spcAft>
                <a:spcPts val="800"/>
              </a:spcAft>
            </a:pPr>
            <a:r>
              <a:rPr sz="1750" b="0" i="0">
                <a:solidFill>
                  <a:srgbClr val="111827"/>
                </a:solidFill>
                <a:latin typeface="Wingdings"/>
              </a:rPr>
              <a:t>ü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Better Planning: 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Real fill-rates help AICTE decide next year’s approvals.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263640" y="1536192"/>
            <a:ext cx="5577840" cy="4681728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FDEBDD"/>
              </a:gs>
              <a:gs pos="100000">
                <a:srgbClr val="F8C9A4"/>
              </a:gs>
            </a:gsLst>
            <a:lin ang="5400000" scaled="0"/>
          </a:gradFill>
          <a:ln w="15875">
            <a:solidFill>
              <a:srgbClr val="F4A261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6" name="Oval 17415"/>
          <p:cNvSpPr/>
          <p:nvPr/>
        </p:nvSpPr>
        <p:spPr>
          <a:xfrm>
            <a:off x="7406640" y="1097280"/>
            <a:ext cx="3291840" cy="548640"/>
          </a:xfrm>
          <a:prstGeom prst="ellipse">
            <a:avLst/>
          </a:prstGeom>
          <a:solidFill>
            <a:srgbClr val="FDEBDD"/>
          </a:solidFill>
          <a:ln w="22225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7" name="TextBox 17416"/>
          <p:cNvSpPr txBox="1"/>
          <p:nvPr/>
        </p:nvSpPr>
        <p:spPr>
          <a:xfrm>
            <a:off x="7406640" y="1097280"/>
            <a:ext cx="3291840" cy="54864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/>
            <a:r>
              <a:rPr sz="1700" b="1" i="0">
                <a:solidFill>
                  <a:srgbClr val="953735"/>
                </a:solidFill>
                <a:latin typeface="Times New Roman"/>
              </a:rPr>
              <a:t>BENEFITS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446520" y="1965960"/>
            <a:ext cx="5257800" cy="420624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>
              <a:spcAft>
                <a:spcPts val="800"/>
              </a:spcAft>
            </a:pPr>
            <a:r>
              <a:rPr sz="1750" b="0" i="0">
                <a:solidFill>
                  <a:srgbClr val="111827"/>
                </a:solidFill>
                <a:latin typeface="Wingdings"/>
              </a:rPr>
              <a:t>ü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Less Paperwork: 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One verified upload fills AICTE, AISHE and NIRF data.</a:t>
            </a:r>
          </a:p>
          <a:p>
            <a:pPr algn="l">
              <a:spcAft>
                <a:spcPts val="800"/>
              </a:spcAft>
            </a:pPr>
            <a:r>
              <a:rPr sz="1750" b="0" i="0">
                <a:solidFill>
                  <a:srgbClr val="111827"/>
                </a:solidFill>
                <a:latin typeface="Wingdings"/>
              </a:rPr>
              <a:t>ü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Trusted Certificates: 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Employers verify degrees by scanning a QR code.</a:t>
            </a:r>
          </a:p>
          <a:p>
            <a:pPr algn="l">
              <a:spcAft>
                <a:spcPts val="800"/>
              </a:spcAft>
            </a:pPr>
            <a:r>
              <a:rPr sz="1750" b="0" i="0">
                <a:solidFill>
                  <a:srgbClr val="111827"/>
                </a:solidFill>
                <a:latin typeface="Wingdings"/>
              </a:rPr>
              <a:t>ü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Privacy: 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Caste, quota and marks are not shown to verifiers.</a:t>
            </a:r>
          </a:p>
          <a:p>
            <a:pPr algn="l">
              <a:spcAft>
                <a:spcPts val="800"/>
              </a:spcAft>
            </a:pPr>
            <a:r>
              <a:rPr sz="1750" b="0" i="0">
                <a:solidFill>
                  <a:srgbClr val="111827"/>
                </a:solidFill>
                <a:latin typeface="Wingdings"/>
              </a:rPr>
              <a:t>ü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Transparency: 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Every change is saved in a tamper-evident audit log.</a:t>
            </a:r>
          </a:p>
          <a:p>
            <a:pPr algn="l">
              <a:spcAft>
                <a:spcPts val="800"/>
              </a:spcAft>
            </a:pPr>
            <a:r>
              <a:rPr sz="1750" b="0" i="0">
                <a:solidFill>
                  <a:srgbClr val="111827"/>
                </a:solidFill>
                <a:latin typeface="Wingdings"/>
              </a:rPr>
              <a:t>ü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Sustainable Model: 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Free for students and colleges; employers pay for verification.</a:t>
            </a:r>
          </a:p>
          <a:p>
            <a:pPr algn="l">
              <a:spcAft>
                <a:spcPts val="800"/>
              </a:spcAft>
            </a:pPr>
            <a:r>
              <a:rPr sz="1750" b="0" i="0">
                <a:solidFill>
                  <a:srgbClr val="111827"/>
                </a:solidFill>
                <a:latin typeface="Wingdings"/>
              </a:rPr>
              <a:t>ü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Rural Reach: </a:t>
            </a:r>
            <a:r>
              <a:rPr sz="1750" b="0" i="0">
                <a:solidFill>
                  <a:srgbClr val="111827"/>
                </a:solidFill>
                <a:latin typeface="Times New Roman"/>
              </a:rPr>
              <a:t>Students without smartphones confirm by SMS or voice call.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team_logo.png"/>
          <p:cNvPicPr>
            <a:picLocks noChangeAspect="1"/>
          </p:cNvPicPr>
          <p:nvPr/>
        </p:nvPicPr>
        <p:blipFill>
          <a:blip r:embed="rId4"/>
          <a:srcRect l="7676" r="7676"/>
          <a:stretch>
            <a:fillRect/>
          </a:stretch>
        </p:blipFill>
        <p:spPr>
          <a:xfrm>
            <a:off x="329773" y="252246"/>
            <a:ext cx="1251857" cy="807334"/>
          </a:xfrm>
          <a:prstGeom prst="ellipse">
            <a:avLst/>
          </a:prstGeom>
          <a:ln w="19050">
            <a:solidFill>
              <a:srgbClr val="7030A0"/>
            </a:solidFill>
          </a:ln>
        </p:spPr>
      </p:pic>
      <p:sp>
        <p:nvSpPr>
          <p:cNvPr id="17411" name="Rectangle 17410"/>
          <p:cNvSpPr/>
          <p:nvPr/>
        </p:nvSpPr>
        <p:spPr>
          <a:xfrm>
            <a:off x="274320" y="1097280"/>
            <a:ext cx="5852160" cy="457200"/>
          </a:xfrm>
          <a:prstGeom prst="rect">
            <a:avLst/>
          </a:prstGeom>
          <a:solidFill>
            <a:srgbClr val="8B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TextBox 17411"/>
          <p:cNvSpPr txBox="1"/>
          <p:nvPr/>
        </p:nvSpPr>
        <p:spPr>
          <a:xfrm>
            <a:off x="320040" y="1097280"/>
            <a:ext cx="5760720" cy="45720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l"/>
            <a:r>
              <a:rPr sz="1150" b="0" i="0">
                <a:solidFill>
                  <a:srgbClr val="111827"/>
                </a:solidFill>
                <a:latin typeface="Times New Roman"/>
              </a:rPr>
              <a:t>[1] Ministry of Education (PIB), APAAR backgrounder, June 2026: 26.30 crore APAAR IDs generated. Available: static.pib.gov.in</a:t>
            </a:r>
          </a:p>
        </p:txBody>
      </p:sp>
      <p:sp>
        <p:nvSpPr>
          <p:cNvPr id="17413" name="Rectangle 17412"/>
          <p:cNvSpPr/>
          <p:nvPr/>
        </p:nvSpPr>
        <p:spPr>
          <a:xfrm>
            <a:off x="274320" y="1572768"/>
            <a:ext cx="5852160" cy="457200"/>
          </a:xfrm>
          <a:prstGeom prst="rect">
            <a:avLst/>
          </a:prstGeom>
          <a:solidFill>
            <a:srgbClr val="B9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4" name="TextBox 17413"/>
          <p:cNvSpPr txBox="1"/>
          <p:nvPr/>
        </p:nvSpPr>
        <p:spPr>
          <a:xfrm>
            <a:off x="320040" y="1572768"/>
            <a:ext cx="5760720" cy="45720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l"/>
            <a:r>
              <a:rPr sz="1150" b="0" i="0">
                <a:solidFill>
                  <a:srgbClr val="111827"/>
                </a:solidFill>
                <a:latin typeface="Times New Roman"/>
              </a:rPr>
              <a:t>[2] I. Fellegi and A. Sunter, “A Theory for Record Linkage,” JASA, vol. 64, 1969. doi.org/10.1080/01621459.1969.10501049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274320" y="2048256"/>
            <a:ext cx="5852160" cy="457200"/>
          </a:xfrm>
          <a:prstGeom prst="rect">
            <a:avLst/>
          </a:prstGeom>
          <a:solidFill>
            <a:srgbClr val="8B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6" name="TextBox 17415"/>
          <p:cNvSpPr txBox="1"/>
          <p:nvPr/>
        </p:nvSpPr>
        <p:spPr>
          <a:xfrm>
            <a:off x="320040" y="2048256"/>
            <a:ext cx="5760720" cy="45720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l"/>
            <a:r>
              <a:rPr sz="1150" b="0" i="0">
                <a:solidFill>
                  <a:srgbClr val="111827"/>
                </a:solidFill>
                <a:latin typeface="Times New Roman"/>
              </a:rPr>
              <a:t>[3] L. Akoglu, H. Tong and D. Koutra, “Graph-based anomaly detection and description: a survey,” DMKD, 2015.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6263640" y="1097280"/>
            <a:ext cx="5669280" cy="457200"/>
          </a:xfrm>
          <a:prstGeom prst="rect">
            <a:avLst/>
          </a:prstGeom>
          <a:solidFill>
            <a:srgbClr val="F8B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8" name="TextBox 17417"/>
          <p:cNvSpPr txBox="1"/>
          <p:nvPr/>
        </p:nvSpPr>
        <p:spPr>
          <a:xfrm>
            <a:off x="6309360" y="1097280"/>
            <a:ext cx="5577840" cy="45720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l"/>
            <a:r>
              <a:rPr sz="1150" b="0" i="0">
                <a:solidFill>
                  <a:srgbClr val="111827"/>
                </a:solidFill>
                <a:latin typeface="Times New Roman"/>
              </a:rPr>
              <a:t>[4] AICTE Approval Process Handbook 2026–27 and UGC guidelines for pursuing two academic programmes simultaneously, 2022.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6263640" y="1572768"/>
            <a:ext cx="5669280" cy="457200"/>
          </a:xfrm>
          <a:prstGeom prst="rect">
            <a:avLst/>
          </a:prstGeom>
          <a:solidFill>
            <a:srgbClr val="FBD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0" name="TextBox 17419"/>
          <p:cNvSpPr txBox="1"/>
          <p:nvPr/>
        </p:nvSpPr>
        <p:spPr>
          <a:xfrm>
            <a:off x="6309360" y="1572768"/>
            <a:ext cx="5577840" cy="45720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l"/>
            <a:r>
              <a:rPr sz="1150" b="0" i="0">
                <a:solidFill>
                  <a:srgbClr val="111827"/>
                </a:solidFill>
                <a:latin typeface="Times New Roman"/>
              </a:rPr>
              <a:t>[5] B. Laurie et al., RFC 6962: Certificate Transparency (Merkle audit logs), IETF, 2013.</a:t>
            </a:r>
          </a:p>
        </p:txBody>
      </p:sp>
      <p:sp>
        <p:nvSpPr>
          <p:cNvPr id="17421" name="Rectangle 17420"/>
          <p:cNvSpPr/>
          <p:nvPr/>
        </p:nvSpPr>
        <p:spPr>
          <a:xfrm>
            <a:off x="6263640" y="2048256"/>
            <a:ext cx="5669280" cy="457200"/>
          </a:xfrm>
          <a:prstGeom prst="rect">
            <a:avLst/>
          </a:prstGeom>
          <a:solidFill>
            <a:srgbClr val="F8B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2" name="TextBox 17421"/>
          <p:cNvSpPr txBox="1"/>
          <p:nvPr/>
        </p:nvSpPr>
        <p:spPr>
          <a:xfrm>
            <a:off x="6309360" y="2048256"/>
            <a:ext cx="5577840" cy="45720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l"/>
            <a:r>
              <a:rPr sz="1150" b="0" i="0">
                <a:solidFill>
                  <a:srgbClr val="111827"/>
                </a:solidFill>
                <a:latin typeface="Times New Roman"/>
              </a:rPr>
              <a:t>[6] W3C Verifiable Credentials Data Model 2.0; Digital Personal Data Protection Act, 2023.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274320" y="2651760"/>
            <a:ext cx="4343400" cy="1965960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ECE4FB"/>
              </a:gs>
              <a:gs pos="100000">
                <a:srgbClr val="C3B1EC"/>
              </a:gs>
            </a:gsLst>
            <a:lin ang="5400000" scaled="0"/>
          </a:gradFill>
          <a:ln w="15875">
            <a:solidFill>
              <a:srgbClr val="8E6FC9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4" name="TextBox 17423"/>
          <p:cNvSpPr txBox="1"/>
          <p:nvPr/>
        </p:nvSpPr>
        <p:spPr>
          <a:xfrm>
            <a:off x="411480" y="2688336"/>
            <a:ext cx="4114800" cy="292608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/>
            <a:r>
              <a:rPr sz="1400" b="1" i="0">
                <a:solidFill>
                  <a:srgbClr val="953735"/>
                </a:solidFill>
                <a:latin typeface="Times New Roman"/>
              </a:rPr>
              <a:t>SOLUTIONS ALREADY EXIST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411480" y="2999232"/>
            <a:ext cx="4114800" cy="160020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>
              <a:spcAft>
                <a:spcPts val="500"/>
              </a:spcAft>
            </a:pPr>
            <a:r>
              <a:rPr sz="1450" b="0" i="0">
                <a:solidFill>
                  <a:srgbClr val="111827"/>
                </a:solidFill>
                <a:latin typeface="Wingdings"/>
              </a:rPr>
              <a:t>Ø</a:t>
            </a:r>
            <a:r>
              <a:rPr sz="145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450" b="1" i="0">
                <a:solidFill>
                  <a:srgbClr val="953735"/>
                </a:solidFill>
                <a:latin typeface="Times New Roman"/>
              </a:rPr>
              <a:t/>
            </a:r>
            <a:r>
              <a:rPr sz="1450" b="0" i="0">
                <a:solidFill>
                  <a:srgbClr val="111827"/>
                </a:solidFill>
                <a:latin typeface="Times New Roman"/>
              </a:rPr>
              <a:t>AICTE portal collects only total intake.</a:t>
            </a:r>
          </a:p>
          <a:p>
            <a:pPr algn="l">
              <a:spcAft>
                <a:spcPts val="500"/>
              </a:spcAft>
            </a:pPr>
            <a:r>
              <a:rPr sz="1450" b="0" i="0">
                <a:solidFill>
                  <a:srgbClr val="111827"/>
                </a:solidFill>
                <a:latin typeface="Wingdings"/>
              </a:rPr>
              <a:t>Ø</a:t>
            </a:r>
            <a:r>
              <a:rPr sz="145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450" b="1" i="0">
                <a:solidFill>
                  <a:srgbClr val="953735"/>
                </a:solidFill>
                <a:latin typeface="Times New Roman"/>
              </a:rPr>
              <a:t/>
            </a:r>
            <a:r>
              <a:rPr sz="1450" b="0" i="0">
                <a:solidFill>
                  <a:srgbClr val="111827"/>
                </a:solidFill>
                <a:latin typeface="Times New Roman"/>
              </a:rPr>
              <a:t>AISHE survey collects self-reported statistics.</a:t>
            </a:r>
          </a:p>
          <a:p>
            <a:pPr algn="l">
              <a:spcAft>
                <a:spcPts val="500"/>
              </a:spcAft>
            </a:pPr>
            <a:r>
              <a:rPr sz="1450" b="0" i="0">
                <a:solidFill>
                  <a:srgbClr val="111827"/>
                </a:solidFill>
                <a:latin typeface="Wingdings"/>
              </a:rPr>
              <a:t>Ø</a:t>
            </a:r>
            <a:r>
              <a:rPr sz="145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450" b="1" i="0">
                <a:solidFill>
                  <a:srgbClr val="953735"/>
                </a:solidFill>
                <a:latin typeface="Times New Roman"/>
              </a:rPr>
              <a:t/>
            </a:r>
            <a:r>
              <a:rPr sz="1450" b="0" i="0">
                <a:solidFill>
                  <a:srgbClr val="111827"/>
                </a:solidFill>
                <a:latin typeface="Times New Roman"/>
              </a:rPr>
              <a:t>DigiLocker and NAD store issued certificates.</a:t>
            </a:r>
          </a:p>
          <a:p>
            <a:pPr algn="l">
              <a:spcAft>
                <a:spcPts val="500"/>
              </a:spcAft>
            </a:pPr>
            <a:r>
              <a:rPr sz="1450" b="0" i="0">
                <a:solidFill>
                  <a:srgbClr val="111827"/>
                </a:solidFill>
                <a:latin typeface="Wingdings"/>
              </a:rPr>
              <a:t>Ø</a:t>
            </a:r>
            <a:r>
              <a:rPr sz="145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450" b="1" i="0">
                <a:solidFill>
                  <a:srgbClr val="953735"/>
                </a:solidFill>
                <a:latin typeface="Times New Roman"/>
              </a:rPr>
              <a:t/>
            </a:r>
            <a:r>
              <a:rPr sz="1450" b="0" i="0">
                <a:solidFill>
                  <a:srgbClr val="111827"/>
                </a:solidFill>
                <a:latin typeface="Times New Roman"/>
              </a:rPr>
              <a:t>APAAR and ABC give each student an ID.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4754880" y="2651760"/>
            <a:ext cx="7178040" cy="1965960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ECE4FB"/>
              </a:gs>
              <a:gs pos="100000">
                <a:srgbClr val="C3B1EC"/>
              </a:gs>
            </a:gsLst>
            <a:lin ang="5400000" scaled="0"/>
          </a:gradFill>
          <a:ln w="15875">
            <a:solidFill>
              <a:srgbClr val="8E6FC9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7" name="TextBox 17426"/>
          <p:cNvSpPr txBox="1"/>
          <p:nvPr/>
        </p:nvSpPr>
        <p:spPr>
          <a:xfrm>
            <a:off x="4892040" y="2688336"/>
            <a:ext cx="6949440" cy="292608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/>
            <a:r>
              <a:rPr sz="1400" b="1" i="0">
                <a:solidFill>
                  <a:srgbClr val="953735"/>
                </a:solidFill>
                <a:latin typeface="Times New Roman"/>
              </a:rPr>
              <a:t>OUR SOLUTION STANDS OUT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4892040" y="2999232"/>
            <a:ext cx="6949440" cy="160020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11827"/>
                </a:solidFill>
                <a:latin typeface="Wingdings"/>
              </a:rPr>
              <a:t>Ø</a:t>
            </a:r>
            <a:r>
              <a:rPr sz="145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450" b="1" i="0">
                <a:solidFill>
                  <a:srgbClr val="111827"/>
                </a:solidFill>
                <a:latin typeface="Times New Roman"/>
              </a:rPr>
              <a:t>ONE VERIFIED RECORD: </a:t>
            </a:r>
            <a:r>
              <a:rPr sz="1450" b="0" i="0">
                <a:solidFill>
                  <a:srgbClr val="111827"/>
                </a:solidFill>
                <a:latin typeface="Times New Roman"/>
              </a:rPr>
              <a:t>links APAAR, counselling, DigiLocker, NSP, ABC.</a:t>
            </a:r>
          </a:p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11827"/>
                </a:solidFill>
                <a:latin typeface="Wingdings"/>
              </a:rPr>
              <a:t>Ø</a:t>
            </a:r>
            <a:r>
              <a:rPr sz="145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450" b="1" i="0">
                <a:solidFill>
                  <a:srgbClr val="111827"/>
                </a:solidFill>
                <a:latin typeface="Times New Roman"/>
              </a:rPr>
              <a:t>SEAT LEDGER: </a:t>
            </a:r>
            <a:r>
              <a:rPr sz="1450" b="0" i="0">
                <a:solidFill>
                  <a:srgbClr val="111827"/>
                </a:solidFill>
                <a:latin typeface="Times New Roman"/>
              </a:rPr>
              <a:t>blocks admissions beyond approved intake at upload.</a:t>
            </a:r>
          </a:p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11827"/>
                </a:solidFill>
                <a:latin typeface="Wingdings"/>
              </a:rPr>
              <a:t>Ø</a:t>
            </a:r>
            <a:r>
              <a:rPr sz="145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450" b="1" i="0">
                <a:solidFill>
                  <a:srgbClr val="111827"/>
                </a:solidFill>
                <a:latin typeface="Times New Roman"/>
              </a:rPr>
              <a:t>STUDENT CONFIRMATION: </a:t>
            </a:r>
            <a:r>
              <a:rPr sz="1450" b="0" i="0">
                <a:solidFill>
                  <a:srgbClr val="111827"/>
                </a:solidFill>
                <a:latin typeface="Times New Roman"/>
              </a:rPr>
              <a:t>students confirm or report their own admission.</a:t>
            </a:r>
          </a:p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11827"/>
                </a:solidFill>
                <a:latin typeface="Wingdings"/>
              </a:rPr>
              <a:t>Ø</a:t>
            </a:r>
            <a:r>
              <a:rPr sz="145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450" b="1" i="0">
                <a:solidFill>
                  <a:srgbClr val="111827"/>
                </a:solidFill>
                <a:latin typeface="Times New Roman"/>
              </a:rPr>
              <a:t>EXPLAINABLE FLAGS: </a:t>
            </a:r>
            <a:r>
              <a:rPr sz="1450" b="0" i="0">
                <a:solidFill>
                  <a:srgbClr val="111827"/>
                </a:solidFill>
                <a:latin typeface="Times New Roman"/>
              </a:rPr>
              <a:t>every flag shows its reason for officer review.</a:t>
            </a:r>
          </a:p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11827"/>
                </a:solidFill>
                <a:latin typeface="Wingdings"/>
              </a:rPr>
              <a:t>Ø</a:t>
            </a:r>
            <a:r>
              <a:rPr sz="1450" b="0" i="0">
                <a:solidFill>
                  <a:srgbClr val="111827"/>
                </a:solidFill>
                <a:latin typeface="Times New Roman"/>
              </a:rPr>
              <a:t>  </a:t>
            </a:r>
            <a:r>
              <a:rPr sz="1450" b="1" i="0">
                <a:solidFill>
                  <a:srgbClr val="111827"/>
                </a:solidFill>
                <a:latin typeface="Times New Roman"/>
              </a:rPr>
              <a:t>PROTOTYPE READY: </a:t>
            </a:r>
            <a:r>
              <a:rPr sz="1450" b="0" i="0">
                <a:solidFill>
                  <a:srgbClr val="111827"/>
                </a:solidFill>
                <a:latin typeface="Times New Roman"/>
              </a:rPr>
              <a:t>dashboards and checks shown on synthetic data.</a:t>
            </a:r>
          </a:p>
        </p:txBody>
      </p:sp>
      <p:pic>
        <p:nvPicPr>
          <p:cNvPr id="17429" name="Picture 17428" descr="overview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4800600"/>
            <a:ext cx="2103120" cy="1325880"/>
          </a:xfrm>
          <a:prstGeom prst="rect">
            <a:avLst/>
          </a:prstGeom>
          <a:ln w="9525">
            <a:solidFill>
              <a:srgbClr val="8C8C8C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</p:pic>
      <p:pic>
        <p:nvPicPr>
          <p:cNvPr id="17430" name="Picture 17429" descr="upload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7168" y="4800600"/>
            <a:ext cx="2103120" cy="1325880"/>
          </a:xfrm>
          <a:prstGeom prst="rect">
            <a:avLst/>
          </a:prstGeom>
          <a:ln w="9525">
            <a:solidFill>
              <a:srgbClr val="8C8C8C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</p:pic>
      <p:pic>
        <p:nvPicPr>
          <p:cNvPr id="17431" name="Picture 17430" descr="institution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0016" y="4800600"/>
            <a:ext cx="2103120" cy="1325880"/>
          </a:xfrm>
          <a:prstGeom prst="rect">
            <a:avLst/>
          </a:prstGeom>
          <a:ln w="9525">
            <a:solidFill>
              <a:srgbClr val="8C8C8C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</p:pic>
      <p:pic>
        <p:nvPicPr>
          <p:cNvPr id="17432" name="Picture 17431" descr="verify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12864" y="4800600"/>
            <a:ext cx="2103120" cy="1325880"/>
          </a:xfrm>
          <a:prstGeom prst="rect">
            <a:avLst/>
          </a:prstGeom>
          <a:ln w="9525">
            <a:solidFill>
              <a:srgbClr val="8C8C8C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</p:pic>
      <p:sp>
        <p:nvSpPr>
          <p:cNvPr id="17433" name="Oval 17432"/>
          <p:cNvSpPr/>
          <p:nvPr/>
        </p:nvSpPr>
        <p:spPr>
          <a:xfrm>
            <a:off x="9281160" y="4736592"/>
            <a:ext cx="2651760" cy="1463040"/>
          </a:xfrm>
          <a:prstGeom prst="ellipse">
            <a:avLst/>
          </a:prstGeom>
          <a:gradFill rotWithShape="1">
            <a:gsLst>
              <a:gs pos="0">
                <a:srgbClr val="E6F4D7"/>
              </a:gs>
              <a:gs pos="100000">
                <a:srgbClr val="B9DD95"/>
              </a:gs>
            </a:gsLst>
            <a:lin ang="5400000" scaled="0"/>
          </a:gradFill>
          <a:ln w="15875">
            <a:solidFill>
              <a:srgbClr val="6A9F3B"/>
            </a:solidFill>
          </a:ln>
          <a:effectLst>
            <a:outerShdw blurRad="508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4" name="TextBox 17433"/>
          <p:cNvSpPr txBox="1"/>
          <p:nvPr/>
        </p:nvSpPr>
        <p:spPr>
          <a:xfrm>
            <a:off x="9372600" y="4828032"/>
            <a:ext cx="2468880" cy="128016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ctr"/>
            <a:r>
              <a:rPr sz="1300" b="0" i="0">
                <a:solidFill>
                  <a:srgbClr val="111827"/>
                </a:solidFill>
                <a:latin typeface="Times New Roman"/>
              </a:rPr>
              <a:t>Link:</a:t>
            </a:r>
          </a:p>
          <a:p>
            <a:pPr algn="ctr"/>
            <a:r>
              <a:rPr sz="1050" b="0" i="0" u="sng">
                <a:solidFill>
                  <a:srgbClr val="1F4E79"/>
                </a:solidFill>
                <a:latin typeface="Times New Roman"/>
                <a:hlinkClick r:id="rId9"/>
              </a:rPr>
              <a:t>vaishak2k6.github.io/APAAR-Satya</a:t>
            </a:r>
          </a:p>
          <a:p>
            <a:pPr algn="ctr"/>
            <a:r>
              <a:rPr sz="1300" b="0" i="0">
                <a:solidFill>
                  <a:srgbClr val="111827"/>
                </a:solidFill>
                <a:latin typeface="Times New Roman"/>
              </a:rPr>
              <a:t>GitHub link:</a:t>
            </a:r>
          </a:p>
          <a:p>
            <a:pPr algn="ctr"/>
            <a:r>
              <a:rPr sz="1050" b="0" i="0" u="sng">
                <a:solidFill>
                  <a:srgbClr val="1F4E79"/>
                </a:solidFill>
                <a:latin typeface="Times New Roman"/>
                <a:hlinkClick r:id="rId10"/>
              </a:rPr>
              <a:t>github.com/vaishak2k6/APAAR-Satya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